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2" r:id="rId7"/>
    <p:sldId id="264" r:id="rId8"/>
    <p:sldId id="263" r:id="rId9"/>
    <p:sldId id="265" r:id="rId10"/>
    <p:sldId id="26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98" autoAdjust="0"/>
    <p:restoredTop sz="94660"/>
  </p:normalViewPr>
  <p:slideViewPr>
    <p:cSldViewPr snapToGrid="0" snapToObjects="1">
      <p:cViewPr varScale="1">
        <p:scale>
          <a:sx n="82" d="100"/>
          <a:sy n="82" d="100"/>
        </p:scale>
        <p:origin x="61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1426"/>
        </a:solidFill>
        <a:effectLst/>
      </p:bgPr>
    </p:bg>
    <p:spTree>
      <p:nvGrpSpPr>
        <p:cNvPr id="1" name=""/>
        <p:cNvGrpSpPr/>
        <p:nvPr/>
      </p:nvGrpSpPr>
      <p:grpSpPr>
        <a:xfrm>
          <a:off x="0" y="0"/>
          <a:ext cx="0" cy="0"/>
          <a:chOff x="0" y="0"/>
          <a:chExt cx="0" cy="0"/>
        </a:xfrm>
      </p:grpSpPr>
      <p:sp>
        <p:nvSpPr>
          <p:cNvPr id="2" name="TextBox 1"/>
          <p:cNvSpPr txBox="1"/>
          <p:nvPr/>
        </p:nvSpPr>
        <p:spPr>
          <a:xfrm>
            <a:off x="685800" y="502920"/>
            <a:ext cx="5486400" cy="320040"/>
          </a:xfrm>
          <a:prstGeom prst="rect">
            <a:avLst/>
          </a:prstGeom>
          <a:noFill/>
        </p:spPr>
        <p:txBody>
          <a:bodyPr wrap="square" anchor="t">
            <a:spAutoFit/>
          </a:bodyPr>
          <a:lstStyle/>
          <a:p>
            <a:pPr algn="l"/>
            <a:r>
              <a:rPr sz="1100" b="1">
                <a:solidFill>
                  <a:srgbClr val="46AAFF"/>
                </a:solidFill>
                <a:latin typeface="Aptos"/>
              </a:rPr>
              <a:t>STAJ PROJESİ  /  VERİ ANALİZİ</a:t>
            </a:r>
          </a:p>
        </p:txBody>
      </p:sp>
      <p:sp>
        <p:nvSpPr>
          <p:cNvPr id="3" name="TextBox 2"/>
          <p:cNvSpPr txBox="1"/>
          <p:nvPr/>
        </p:nvSpPr>
        <p:spPr>
          <a:xfrm>
            <a:off x="685800" y="1234440"/>
            <a:ext cx="7955279" cy="1417320"/>
          </a:xfrm>
          <a:prstGeom prst="rect">
            <a:avLst/>
          </a:prstGeom>
          <a:noFill/>
        </p:spPr>
        <p:txBody>
          <a:bodyPr wrap="square" anchor="t">
            <a:spAutoFit/>
          </a:bodyPr>
          <a:lstStyle/>
          <a:p>
            <a:pPr algn="l"/>
            <a:r>
              <a:rPr sz="3400" b="1">
                <a:solidFill>
                  <a:srgbClr val="F5F8FC"/>
                </a:solidFill>
                <a:latin typeface="Aptos"/>
              </a:rPr>
              <a:t>Titanik Veri Analizi
Projesi</a:t>
            </a:r>
          </a:p>
        </p:txBody>
      </p:sp>
      <p:sp>
        <p:nvSpPr>
          <p:cNvPr id="4" name="TextBox 3"/>
          <p:cNvSpPr txBox="1"/>
          <p:nvPr/>
        </p:nvSpPr>
        <p:spPr>
          <a:xfrm>
            <a:off x="713232" y="2880360"/>
            <a:ext cx="7680960" cy="731520"/>
          </a:xfrm>
          <a:prstGeom prst="rect">
            <a:avLst/>
          </a:prstGeom>
          <a:noFill/>
        </p:spPr>
        <p:txBody>
          <a:bodyPr wrap="square" anchor="t">
            <a:spAutoFit/>
          </a:bodyPr>
          <a:lstStyle/>
          <a:p>
            <a:pPr algn="l"/>
            <a:r>
              <a:rPr sz="1600" b="0" dirty="0" err="1">
                <a:solidFill>
                  <a:srgbClr val="A5B5C9"/>
                </a:solidFill>
                <a:latin typeface="Aptos"/>
              </a:rPr>
              <a:t>Makine</a:t>
            </a:r>
            <a:r>
              <a:rPr sz="1600" b="0" dirty="0">
                <a:solidFill>
                  <a:srgbClr val="A5B5C9"/>
                </a:solidFill>
                <a:latin typeface="Aptos"/>
              </a:rPr>
              <a:t> </a:t>
            </a:r>
            <a:r>
              <a:rPr sz="1600" b="0" dirty="0" err="1">
                <a:solidFill>
                  <a:srgbClr val="A5B5C9"/>
                </a:solidFill>
                <a:latin typeface="Aptos"/>
              </a:rPr>
              <a:t>öğrenmesi</a:t>
            </a:r>
            <a:r>
              <a:rPr sz="1600" b="0" dirty="0">
                <a:solidFill>
                  <a:srgbClr val="A5B5C9"/>
                </a:solidFill>
                <a:latin typeface="Aptos"/>
              </a:rPr>
              <a:t> </a:t>
            </a:r>
            <a:r>
              <a:rPr sz="1600" b="0" dirty="0" err="1">
                <a:solidFill>
                  <a:srgbClr val="A5B5C9"/>
                </a:solidFill>
                <a:latin typeface="Aptos"/>
              </a:rPr>
              <a:t>yardımıyla</a:t>
            </a:r>
            <a:r>
              <a:rPr sz="1600" b="0" dirty="0">
                <a:solidFill>
                  <a:srgbClr val="A5B5C9"/>
                </a:solidFill>
                <a:latin typeface="Aptos"/>
              </a:rPr>
              <a:t> </a:t>
            </a:r>
            <a:r>
              <a:rPr sz="1600" b="0" dirty="0" err="1">
                <a:solidFill>
                  <a:srgbClr val="A5B5C9"/>
                </a:solidFill>
                <a:latin typeface="Aptos"/>
              </a:rPr>
              <a:t>yolcuların</a:t>
            </a:r>
            <a:r>
              <a:rPr sz="1600" b="0" dirty="0">
                <a:solidFill>
                  <a:srgbClr val="A5B5C9"/>
                </a:solidFill>
                <a:latin typeface="Aptos"/>
              </a:rPr>
              <a:t> </a:t>
            </a:r>
            <a:r>
              <a:rPr sz="1600" b="0" dirty="0" err="1">
                <a:solidFill>
                  <a:srgbClr val="A5B5C9"/>
                </a:solidFill>
                <a:latin typeface="Aptos"/>
              </a:rPr>
              <a:t>hayatta</a:t>
            </a:r>
            <a:r>
              <a:rPr sz="1600" b="0" dirty="0">
                <a:solidFill>
                  <a:srgbClr val="A5B5C9"/>
                </a:solidFill>
                <a:latin typeface="Aptos"/>
              </a:rPr>
              <a:t> </a:t>
            </a:r>
            <a:r>
              <a:rPr sz="1600" b="0" dirty="0" err="1">
                <a:solidFill>
                  <a:srgbClr val="A5B5C9"/>
                </a:solidFill>
                <a:latin typeface="Aptos"/>
              </a:rPr>
              <a:t>kalma</a:t>
            </a:r>
            <a:r>
              <a:rPr sz="1600" b="0" dirty="0">
                <a:solidFill>
                  <a:srgbClr val="A5B5C9"/>
                </a:solidFill>
                <a:latin typeface="Aptos"/>
              </a:rPr>
              <a:t> </a:t>
            </a:r>
            <a:r>
              <a:rPr sz="1600" b="0" dirty="0" err="1">
                <a:solidFill>
                  <a:srgbClr val="A5B5C9"/>
                </a:solidFill>
                <a:latin typeface="Aptos"/>
              </a:rPr>
              <a:t>ihtimalini</a:t>
            </a:r>
            <a:r>
              <a:rPr sz="1600" b="0" dirty="0">
                <a:solidFill>
                  <a:srgbClr val="A5B5C9"/>
                </a:solidFill>
                <a:latin typeface="Aptos"/>
              </a:rPr>
              <a:t> </a:t>
            </a:r>
            <a:r>
              <a:rPr sz="1600" b="0" dirty="0" err="1">
                <a:solidFill>
                  <a:srgbClr val="A5B5C9"/>
                </a:solidFill>
                <a:latin typeface="Aptos"/>
              </a:rPr>
              <a:t>tahmin</a:t>
            </a:r>
            <a:r>
              <a:rPr sz="1600" b="0" dirty="0">
                <a:solidFill>
                  <a:srgbClr val="A5B5C9"/>
                </a:solidFill>
                <a:latin typeface="Aptos"/>
              </a:rPr>
              <a:t> </a:t>
            </a:r>
            <a:r>
              <a:rPr sz="1600" b="0" dirty="0" err="1">
                <a:solidFill>
                  <a:srgbClr val="A5B5C9"/>
                </a:solidFill>
                <a:latin typeface="Aptos"/>
              </a:rPr>
              <a:t>eden</a:t>
            </a:r>
            <a:r>
              <a:rPr sz="1600" b="0" dirty="0">
                <a:solidFill>
                  <a:srgbClr val="A5B5C9"/>
                </a:solidFill>
                <a:latin typeface="Aptos"/>
              </a:rPr>
              <a:t> model</a:t>
            </a:r>
          </a:p>
        </p:txBody>
      </p:sp>
      <p:sp>
        <p:nvSpPr>
          <p:cNvPr id="5" name="Rounded Rectangle 4"/>
          <p:cNvSpPr/>
          <p:nvPr/>
        </p:nvSpPr>
        <p:spPr>
          <a:xfrm>
            <a:off x="713232" y="4069080"/>
            <a:ext cx="1965960" cy="475488"/>
          </a:xfrm>
          <a:prstGeom prst="roundRect">
            <a:avLst/>
          </a:prstGeom>
          <a:solidFill>
            <a:srgbClr val="46AAFF"/>
          </a:solidFill>
          <a:ln>
            <a:solidFill>
              <a:srgbClr val="46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4197096"/>
            <a:ext cx="1965960" cy="182880"/>
          </a:xfrm>
          <a:prstGeom prst="rect">
            <a:avLst/>
          </a:prstGeom>
          <a:noFill/>
        </p:spPr>
        <p:txBody>
          <a:bodyPr wrap="square" anchor="t">
            <a:spAutoFit/>
          </a:bodyPr>
          <a:lstStyle/>
          <a:p>
            <a:pPr algn="ctr"/>
            <a:r>
              <a:rPr sz="1000" b="1">
                <a:solidFill>
                  <a:srgbClr val="091426"/>
                </a:solidFill>
                <a:latin typeface="Aptos"/>
              </a:rPr>
              <a:t>PROJE SUNUMU</a:t>
            </a:r>
          </a:p>
        </p:txBody>
      </p:sp>
      <p:sp>
        <p:nvSpPr>
          <p:cNvPr id="7" name="Rounded Rectangle 6"/>
          <p:cNvSpPr/>
          <p:nvPr/>
        </p:nvSpPr>
        <p:spPr>
          <a:xfrm>
            <a:off x="8823960" y="1234440"/>
            <a:ext cx="713232" cy="2651760"/>
          </a:xfrm>
          <a:prstGeom prst="roundRect">
            <a:avLst/>
          </a:prstGeom>
          <a:solidFill>
            <a:srgbClr val="122239"/>
          </a:solidFill>
          <a:ln>
            <a:solidFill>
              <a:srgbClr val="122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23960" y="1508760"/>
            <a:ext cx="713232" cy="411480"/>
          </a:xfrm>
          <a:prstGeom prst="rect">
            <a:avLst/>
          </a:prstGeom>
          <a:noFill/>
        </p:spPr>
        <p:txBody>
          <a:bodyPr wrap="square" anchor="t">
            <a:spAutoFit/>
          </a:bodyPr>
          <a:lstStyle/>
          <a:p>
            <a:pPr algn="ctr"/>
            <a:r>
              <a:rPr sz="2000" b="1">
                <a:solidFill>
                  <a:srgbClr val="46AAFF"/>
                </a:solidFill>
                <a:latin typeface="Aptos"/>
              </a:rPr>
              <a:t>01</a:t>
            </a:r>
          </a:p>
        </p:txBody>
      </p:sp>
      <p:sp>
        <p:nvSpPr>
          <p:cNvPr id="9" name="TextBox 8"/>
          <p:cNvSpPr txBox="1"/>
          <p:nvPr/>
        </p:nvSpPr>
        <p:spPr>
          <a:xfrm>
            <a:off x="8823960" y="3154680"/>
            <a:ext cx="713232" cy="228600"/>
          </a:xfrm>
          <a:prstGeom prst="rect">
            <a:avLst/>
          </a:prstGeom>
          <a:noFill/>
        </p:spPr>
        <p:txBody>
          <a:bodyPr wrap="square" anchor="t">
            <a:spAutoFit/>
          </a:bodyPr>
          <a:lstStyle/>
          <a:p>
            <a:pPr algn="ctr"/>
            <a:r>
              <a:rPr sz="900" b="1">
                <a:solidFill>
                  <a:srgbClr val="F5F8FC"/>
                </a:solidFill>
                <a:latin typeface="Aptos"/>
              </a:rPr>
              <a:t>DATA</a:t>
            </a:r>
          </a:p>
        </p:txBody>
      </p:sp>
      <p:sp>
        <p:nvSpPr>
          <p:cNvPr id="10" name="Rounded Rectangle 9"/>
          <p:cNvSpPr/>
          <p:nvPr/>
        </p:nvSpPr>
        <p:spPr>
          <a:xfrm>
            <a:off x="9738360" y="1234440"/>
            <a:ext cx="713232" cy="2651760"/>
          </a:xfrm>
          <a:prstGeom prst="roundRect">
            <a:avLst/>
          </a:prstGeom>
          <a:solidFill>
            <a:srgbClr val="122239"/>
          </a:solidFill>
          <a:ln>
            <a:solidFill>
              <a:srgbClr val="122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38360" y="1508760"/>
            <a:ext cx="713232" cy="411480"/>
          </a:xfrm>
          <a:prstGeom prst="rect">
            <a:avLst/>
          </a:prstGeom>
          <a:noFill/>
        </p:spPr>
        <p:txBody>
          <a:bodyPr wrap="square" anchor="t">
            <a:spAutoFit/>
          </a:bodyPr>
          <a:lstStyle/>
          <a:p>
            <a:pPr algn="ctr"/>
            <a:r>
              <a:rPr sz="2000" b="1">
                <a:solidFill>
                  <a:srgbClr val="6FE2B1"/>
                </a:solidFill>
                <a:latin typeface="Aptos"/>
              </a:rPr>
              <a:t>02</a:t>
            </a:r>
          </a:p>
        </p:txBody>
      </p:sp>
      <p:sp>
        <p:nvSpPr>
          <p:cNvPr id="12" name="TextBox 11"/>
          <p:cNvSpPr txBox="1"/>
          <p:nvPr/>
        </p:nvSpPr>
        <p:spPr>
          <a:xfrm>
            <a:off x="9738360" y="3154680"/>
            <a:ext cx="713232" cy="228600"/>
          </a:xfrm>
          <a:prstGeom prst="rect">
            <a:avLst/>
          </a:prstGeom>
          <a:noFill/>
        </p:spPr>
        <p:txBody>
          <a:bodyPr wrap="square" anchor="t">
            <a:spAutoFit/>
          </a:bodyPr>
          <a:lstStyle/>
          <a:p>
            <a:pPr algn="ctr"/>
            <a:r>
              <a:rPr sz="900" b="1">
                <a:solidFill>
                  <a:srgbClr val="F5F8FC"/>
                </a:solidFill>
                <a:latin typeface="Aptos"/>
              </a:rPr>
              <a:t>EDA</a:t>
            </a:r>
          </a:p>
        </p:txBody>
      </p:sp>
      <p:sp>
        <p:nvSpPr>
          <p:cNvPr id="13" name="Rounded Rectangle 12"/>
          <p:cNvSpPr/>
          <p:nvPr/>
        </p:nvSpPr>
        <p:spPr>
          <a:xfrm>
            <a:off x="10652760" y="1234440"/>
            <a:ext cx="713232" cy="2651760"/>
          </a:xfrm>
          <a:prstGeom prst="roundRect">
            <a:avLst/>
          </a:prstGeom>
          <a:solidFill>
            <a:srgbClr val="122239"/>
          </a:solidFill>
          <a:ln>
            <a:solidFill>
              <a:srgbClr val="122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652760" y="1508760"/>
            <a:ext cx="713232" cy="411480"/>
          </a:xfrm>
          <a:prstGeom prst="rect">
            <a:avLst/>
          </a:prstGeom>
          <a:noFill/>
        </p:spPr>
        <p:txBody>
          <a:bodyPr wrap="square" anchor="t">
            <a:spAutoFit/>
          </a:bodyPr>
          <a:lstStyle/>
          <a:p>
            <a:pPr algn="ctr"/>
            <a:r>
              <a:rPr sz="2000" b="1">
                <a:solidFill>
                  <a:srgbClr val="FFB547"/>
                </a:solidFill>
                <a:latin typeface="Aptos"/>
              </a:rPr>
              <a:t>03</a:t>
            </a:r>
          </a:p>
        </p:txBody>
      </p:sp>
      <p:sp>
        <p:nvSpPr>
          <p:cNvPr id="15" name="TextBox 14"/>
          <p:cNvSpPr txBox="1"/>
          <p:nvPr/>
        </p:nvSpPr>
        <p:spPr>
          <a:xfrm>
            <a:off x="10652760" y="3154680"/>
            <a:ext cx="713232" cy="228600"/>
          </a:xfrm>
          <a:prstGeom prst="rect">
            <a:avLst/>
          </a:prstGeom>
          <a:noFill/>
        </p:spPr>
        <p:txBody>
          <a:bodyPr wrap="square" anchor="t">
            <a:spAutoFit/>
          </a:bodyPr>
          <a:lstStyle/>
          <a:p>
            <a:pPr algn="ctr"/>
            <a:r>
              <a:rPr sz="900" b="1">
                <a:solidFill>
                  <a:srgbClr val="F5F8FC"/>
                </a:solidFill>
                <a:latin typeface="Aptos"/>
              </a:rPr>
              <a:t>ML</a:t>
            </a:r>
          </a:p>
        </p:txBody>
      </p:sp>
      <p:sp>
        <p:nvSpPr>
          <p:cNvPr id="16" name="TextBox 15"/>
          <p:cNvSpPr txBox="1"/>
          <p:nvPr/>
        </p:nvSpPr>
        <p:spPr>
          <a:xfrm>
            <a:off x="594360" y="6473952"/>
            <a:ext cx="6400800" cy="182880"/>
          </a:xfrm>
          <a:prstGeom prst="rect">
            <a:avLst/>
          </a:prstGeom>
          <a:noFill/>
        </p:spPr>
        <p:txBody>
          <a:bodyPr wrap="square" anchor="t">
            <a:spAutoFit/>
          </a:bodyPr>
          <a:lstStyle/>
          <a:p>
            <a:pPr algn="l"/>
            <a:r>
              <a:rPr sz="800" b="0">
                <a:solidFill>
                  <a:srgbClr val="A5B5C9"/>
                </a:solidFill>
                <a:latin typeface="Aptos"/>
              </a:rPr>
              <a:t>Titanik Veri Analizi Projesi</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1426"/>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5303520" cy="274320"/>
          </a:xfrm>
          <a:prstGeom prst="rect">
            <a:avLst/>
          </a:prstGeom>
          <a:noFill/>
        </p:spPr>
        <p:txBody>
          <a:bodyPr wrap="square" anchor="t">
            <a:spAutoFit/>
          </a:bodyPr>
          <a:lstStyle/>
          <a:p>
            <a:pPr algn="l"/>
            <a:r>
              <a:rPr sz="1000" b="1">
                <a:solidFill>
                  <a:srgbClr val="46AAFF"/>
                </a:solidFill>
                <a:latin typeface="Aptos"/>
              </a:rPr>
              <a:t>01 / PROJE</a:t>
            </a:r>
          </a:p>
        </p:txBody>
      </p:sp>
      <p:sp>
        <p:nvSpPr>
          <p:cNvPr id="3" name="TextBox 2"/>
          <p:cNvSpPr txBox="1"/>
          <p:nvPr/>
        </p:nvSpPr>
        <p:spPr>
          <a:xfrm>
            <a:off x="594360" y="658368"/>
            <a:ext cx="10515600" cy="640080"/>
          </a:xfrm>
          <a:prstGeom prst="rect">
            <a:avLst/>
          </a:prstGeom>
          <a:noFill/>
        </p:spPr>
        <p:txBody>
          <a:bodyPr wrap="square" anchor="t">
            <a:spAutoFit/>
          </a:bodyPr>
          <a:lstStyle/>
          <a:p>
            <a:pPr algn="l"/>
            <a:r>
              <a:rPr sz="2800" b="1">
                <a:solidFill>
                  <a:srgbClr val="F5F8FC"/>
                </a:solidFill>
                <a:latin typeface="Aptos"/>
              </a:rPr>
              <a:t>Amaç ve Kapsam</a:t>
            </a:r>
          </a:p>
        </p:txBody>
      </p:sp>
      <p:sp>
        <p:nvSpPr>
          <p:cNvPr id="4" name="TextBox 3"/>
          <p:cNvSpPr txBox="1"/>
          <p:nvPr/>
        </p:nvSpPr>
        <p:spPr>
          <a:xfrm>
            <a:off x="11064240" y="411480"/>
            <a:ext cx="502920" cy="411480"/>
          </a:xfrm>
          <a:prstGeom prst="rect">
            <a:avLst/>
          </a:prstGeom>
          <a:noFill/>
        </p:spPr>
        <p:txBody>
          <a:bodyPr wrap="square" anchor="t">
            <a:spAutoFit/>
          </a:bodyPr>
          <a:lstStyle/>
          <a:p>
            <a:pPr algn="r"/>
            <a:r>
              <a:rPr sz="1200" b="1">
                <a:solidFill>
                  <a:srgbClr val="A5B5C9"/>
                </a:solidFill>
                <a:latin typeface="Aptos"/>
              </a:rPr>
              <a:t>2</a:t>
            </a:r>
          </a:p>
        </p:txBody>
      </p:sp>
      <p:sp>
        <p:nvSpPr>
          <p:cNvPr id="5" name="Rectangle 4"/>
          <p:cNvSpPr/>
          <p:nvPr/>
        </p:nvSpPr>
        <p:spPr>
          <a:xfrm>
            <a:off x="594360" y="1353312"/>
            <a:ext cx="10972800" cy="13716"/>
          </a:xfrm>
          <a:prstGeom prst="rect">
            <a:avLst/>
          </a:prstGeom>
          <a:solidFill>
            <a:srgbClr val="46AAFF"/>
          </a:solidFill>
          <a:ln>
            <a:solidFill>
              <a:srgbClr val="46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1737360"/>
            <a:ext cx="5303520" cy="4069080"/>
          </a:xfrm>
          <a:prstGeom prst="roundRect">
            <a:avLst/>
          </a:prstGeom>
          <a:solidFill>
            <a:srgbClr val="122239"/>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14400" y="1965960"/>
            <a:ext cx="438912" cy="438912"/>
          </a:xfrm>
          <a:prstGeom prst="ellipse">
            <a:avLst/>
          </a:prstGeom>
          <a:solidFill>
            <a:srgbClr val="46AAFF"/>
          </a:solidFill>
          <a:ln>
            <a:solidFill>
              <a:srgbClr val="46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997964"/>
            <a:ext cx="438912" cy="164592"/>
          </a:xfrm>
          <a:prstGeom prst="rect">
            <a:avLst/>
          </a:prstGeom>
          <a:noFill/>
        </p:spPr>
        <p:txBody>
          <a:bodyPr wrap="square" anchor="t">
            <a:spAutoFit/>
          </a:bodyPr>
          <a:lstStyle/>
          <a:p>
            <a:pPr algn="ctr"/>
            <a:r>
              <a:rPr sz="900" b="1">
                <a:solidFill>
                  <a:srgbClr val="091426"/>
                </a:solidFill>
                <a:latin typeface="Aptos"/>
              </a:rPr>
              <a:t>01</a:t>
            </a:r>
          </a:p>
        </p:txBody>
      </p:sp>
      <p:sp>
        <p:nvSpPr>
          <p:cNvPr id="9" name="TextBox 8"/>
          <p:cNvSpPr txBox="1"/>
          <p:nvPr/>
        </p:nvSpPr>
        <p:spPr>
          <a:xfrm>
            <a:off x="1463040" y="1956815"/>
            <a:ext cx="4297679" cy="347472"/>
          </a:xfrm>
          <a:prstGeom prst="rect">
            <a:avLst/>
          </a:prstGeom>
          <a:noFill/>
        </p:spPr>
        <p:txBody>
          <a:bodyPr wrap="square" anchor="t">
            <a:spAutoFit/>
          </a:bodyPr>
          <a:lstStyle/>
          <a:p>
            <a:pPr algn="l"/>
            <a:r>
              <a:rPr sz="1500" b="1">
                <a:solidFill>
                  <a:srgbClr val="F5F8FC"/>
                </a:solidFill>
                <a:latin typeface="Aptos"/>
              </a:rPr>
              <a:t>BİRİNCİL AMAÇ</a:t>
            </a:r>
          </a:p>
        </p:txBody>
      </p:sp>
      <p:sp>
        <p:nvSpPr>
          <p:cNvPr id="10" name="TextBox 9"/>
          <p:cNvSpPr txBox="1"/>
          <p:nvPr/>
        </p:nvSpPr>
        <p:spPr>
          <a:xfrm>
            <a:off x="941832" y="2542032"/>
            <a:ext cx="4791456" cy="600164"/>
          </a:xfrm>
          <a:prstGeom prst="rect">
            <a:avLst/>
          </a:prstGeom>
          <a:noFill/>
        </p:spPr>
        <p:txBody>
          <a:bodyPr wrap="square" anchor="t">
            <a:spAutoFit/>
          </a:bodyPr>
          <a:lstStyle/>
          <a:p>
            <a:pPr algn="l"/>
            <a:r>
              <a:rPr sz="1100" dirty="0" err="1">
                <a:solidFill>
                  <a:schemeClr val="bg1"/>
                </a:solidFill>
                <a:latin typeface="Aptos"/>
              </a:rPr>
              <a:t>Titanik</a:t>
            </a:r>
            <a:r>
              <a:rPr sz="1100" dirty="0">
                <a:solidFill>
                  <a:schemeClr val="bg1"/>
                </a:solidFill>
                <a:latin typeface="Aptos"/>
              </a:rPr>
              <a:t> </a:t>
            </a:r>
            <a:r>
              <a:rPr sz="1100" dirty="0" err="1">
                <a:solidFill>
                  <a:schemeClr val="bg1"/>
                </a:solidFill>
                <a:latin typeface="Aptos"/>
              </a:rPr>
              <a:t>kazasındaki</a:t>
            </a:r>
            <a:r>
              <a:rPr sz="1100" dirty="0">
                <a:solidFill>
                  <a:schemeClr val="bg1"/>
                </a:solidFill>
                <a:latin typeface="Aptos"/>
              </a:rPr>
              <a:t> </a:t>
            </a:r>
            <a:r>
              <a:rPr sz="1100" dirty="0" err="1">
                <a:solidFill>
                  <a:schemeClr val="bg1"/>
                </a:solidFill>
                <a:latin typeface="Aptos"/>
              </a:rPr>
              <a:t>yolcu</a:t>
            </a:r>
            <a:r>
              <a:rPr sz="1100" dirty="0">
                <a:solidFill>
                  <a:schemeClr val="bg1"/>
                </a:solidFill>
                <a:latin typeface="Aptos"/>
              </a:rPr>
              <a:t> </a:t>
            </a:r>
            <a:r>
              <a:rPr sz="1100" dirty="0" err="1">
                <a:solidFill>
                  <a:schemeClr val="bg1"/>
                </a:solidFill>
                <a:latin typeface="Aptos"/>
              </a:rPr>
              <a:t>verilerini</a:t>
            </a:r>
            <a:r>
              <a:rPr sz="1100" dirty="0">
                <a:solidFill>
                  <a:schemeClr val="bg1"/>
                </a:solidFill>
                <a:latin typeface="Aptos"/>
              </a:rPr>
              <a:t> </a:t>
            </a:r>
            <a:r>
              <a:rPr sz="1100" dirty="0" err="1">
                <a:solidFill>
                  <a:schemeClr val="bg1"/>
                </a:solidFill>
                <a:latin typeface="Aptos"/>
              </a:rPr>
              <a:t>inceleyerek</a:t>
            </a:r>
            <a:r>
              <a:rPr sz="1100" dirty="0">
                <a:solidFill>
                  <a:schemeClr val="bg1"/>
                </a:solidFill>
                <a:latin typeface="Aptos"/>
              </a:rPr>
              <a:t>; </a:t>
            </a:r>
            <a:r>
              <a:rPr sz="1100" dirty="0" err="1">
                <a:solidFill>
                  <a:schemeClr val="bg1"/>
                </a:solidFill>
                <a:latin typeface="Aptos"/>
              </a:rPr>
              <a:t>makine</a:t>
            </a:r>
            <a:r>
              <a:rPr sz="1100" dirty="0">
                <a:solidFill>
                  <a:schemeClr val="bg1"/>
                </a:solidFill>
                <a:latin typeface="Aptos"/>
              </a:rPr>
              <a:t> </a:t>
            </a:r>
            <a:r>
              <a:rPr sz="1100" dirty="0" err="1">
                <a:solidFill>
                  <a:schemeClr val="bg1"/>
                </a:solidFill>
                <a:latin typeface="Aptos"/>
              </a:rPr>
              <a:t>öğrenimi</a:t>
            </a:r>
            <a:r>
              <a:rPr sz="1100" dirty="0">
                <a:solidFill>
                  <a:schemeClr val="bg1"/>
                </a:solidFill>
                <a:latin typeface="Aptos"/>
              </a:rPr>
              <a:t> </a:t>
            </a:r>
            <a:r>
              <a:rPr sz="1100" dirty="0" err="1">
                <a:solidFill>
                  <a:schemeClr val="bg1"/>
                </a:solidFill>
                <a:latin typeface="Aptos"/>
              </a:rPr>
              <a:t>yardımıyla</a:t>
            </a:r>
            <a:r>
              <a:rPr sz="1100" dirty="0">
                <a:solidFill>
                  <a:schemeClr val="bg1"/>
                </a:solidFill>
                <a:latin typeface="Aptos"/>
              </a:rPr>
              <a:t> </a:t>
            </a:r>
            <a:r>
              <a:rPr sz="1100" dirty="0" err="1">
                <a:solidFill>
                  <a:schemeClr val="bg1"/>
                </a:solidFill>
                <a:latin typeface="Aptos"/>
              </a:rPr>
              <a:t>hangi</a:t>
            </a:r>
            <a:r>
              <a:rPr sz="1100" dirty="0">
                <a:solidFill>
                  <a:schemeClr val="bg1"/>
                </a:solidFill>
                <a:latin typeface="Aptos"/>
              </a:rPr>
              <a:t> </a:t>
            </a:r>
            <a:r>
              <a:rPr sz="1100" dirty="0" err="1">
                <a:solidFill>
                  <a:schemeClr val="bg1"/>
                </a:solidFill>
                <a:latin typeface="Aptos"/>
              </a:rPr>
              <a:t>yolcunun</a:t>
            </a:r>
            <a:r>
              <a:rPr sz="1100" dirty="0">
                <a:solidFill>
                  <a:schemeClr val="bg1"/>
                </a:solidFill>
                <a:latin typeface="Aptos"/>
              </a:rPr>
              <a:t> </a:t>
            </a:r>
            <a:r>
              <a:rPr sz="1100" dirty="0" err="1">
                <a:solidFill>
                  <a:schemeClr val="bg1"/>
                </a:solidFill>
                <a:latin typeface="Aptos"/>
              </a:rPr>
              <a:t>hayatta</a:t>
            </a:r>
            <a:r>
              <a:rPr sz="1100" dirty="0">
                <a:solidFill>
                  <a:schemeClr val="bg1"/>
                </a:solidFill>
                <a:latin typeface="Aptos"/>
              </a:rPr>
              <a:t> </a:t>
            </a:r>
            <a:r>
              <a:rPr sz="1100" dirty="0" err="1">
                <a:solidFill>
                  <a:schemeClr val="bg1"/>
                </a:solidFill>
                <a:latin typeface="Aptos"/>
              </a:rPr>
              <a:t>kalma</a:t>
            </a:r>
            <a:r>
              <a:rPr sz="1100" dirty="0">
                <a:solidFill>
                  <a:schemeClr val="bg1"/>
                </a:solidFill>
                <a:latin typeface="Aptos"/>
              </a:rPr>
              <a:t> </a:t>
            </a:r>
            <a:r>
              <a:rPr sz="1100" dirty="0" err="1">
                <a:solidFill>
                  <a:schemeClr val="bg1"/>
                </a:solidFill>
                <a:latin typeface="Aptos"/>
              </a:rPr>
              <a:t>ihtimalinin</a:t>
            </a:r>
            <a:r>
              <a:rPr sz="1100" dirty="0">
                <a:solidFill>
                  <a:schemeClr val="bg1"/>
                </a:solidFill>
                <a:latin typeface="Aptos"/>
              </a:rPr>
              <a:t> </a:t>
            </a:r>
            <a:r>
              <a:rPr sz="1100" dirty="0" err="1">
                <a:solidFill>
                  <a:schemeClr val="bg1"/>
                </a:solidFill>
                <a:latin typeface="Aptos"/>
              </a:rPr>
              <a:t>daha</a:t>
            </a:r>
            <a:r>
              <a:rPr sz="1100" dirty="0">
                <a:solidFill>
                  <a:schemeClr val="bg1"/>
                </a:solidFill>
                <a:latin typeface="Aptos"/>
              </a:rPr>
              <a:t> </a:t>
            </a:r>
            <a:r>
              <a:rPr sz="1100" dirty="0" err="1">
                <a:solidFill>
                  <a:schemeClr val="bg1"/>
                </a:solidFill>
                <a:latin typeface="Aptos"/>
              </a:rPr>
              <a:t>yüksek</a:t>
            </a:r>
            <a:r>
              <a:rPr sz="1100" dirty="0">
                <a:solidFill>
                  <a:schemeClr val="bg1"/>
                </a:solidFill>
                <a:latin typeface="Aptos"/>
              </a:rPr>
              <a:t> </a:t>
            </a:r>
            <a:r>
              <a:rPr sz="1100" dirty="0" err="1">
                <a:solidFill>
                  <a:schemeClr val="bg1"/>
                </a:solidFill>
                <a:latin typeface="Aptos"/>
              </a:rPr>
              <a:t>olduğunu</a:t>
            </a:r>
            <a:r>
              <a:rPr sz="1100" dirty="0">
                <a:solidFill>
                  <a:schemeClr val="bg1"/>
                </a:solidFill>
                <a:latin typeface="Aptos"/>
              </a:rPr>
              <a:t> </a:t>
            </a:r>
            <a:r>
              <a:rPr sz="1100" dirty="0" err="1">
                <a:solidFill>
                  <a:schemeClr val="bg1"/>
                </a:solidFill>
                <a:latin typeface="Aptos"/>
              </a:rPr>
              <a:t>tahmin</a:t>
            </a:r>
            <a:r>
              <a:rPr sz="1100" dirty="0">
                <a:solidFill>
                  <a:schemeClr val="bg1"/>
                </a:solidFill>
                <a:latin typeface="Aptos"/>
              </a:rPr>
              <a:t> </a:t>
            </a:r>
            <a:r>
              <a:rPr sz="1100" dirty="0" err="1">
                <a:solidFill>
                  <a:schemeClr val="bg1"/>
                </a:solidFill>
                <a:latin typeface="Aptos"/>
              </a:rPr>
              <a:t>edecek</a:t>
            </a:r>
            <a:r>
              <a:rPr sz="1100" dirty="0">
                <a:solidFill>
                  <a:schemeClr val="bg1"/>
                </a:solidFill>
                <a:latin typeface="Aptos"/>
              </a:rPr>
              <a:t> </a:t>
            </a:r>
            <a:r>
              <a:rPr sz="1100" dirty="0" err="1">
                <a:solidFill>
                  <a:schemeClr val="bg1"/>
                </a:solidFill>
                <a:latin typeface="Aptos"/>
              </a:rPr>
              <a:t>bir</a:t>
            </a:r>
            <a:r>
              <a:rPr sz="1100" dirty="0">
                <a:solidFill>
                  <a:schemeClr val="bg1"/>
                </a:solidFill>
                <a:latin typeface="Aptos"/>
              </a:rPr>
              <a:t> model </a:t>
            </a:r>
            <a:r>
              <a:rPr sz="1100" dirty="0" err="1">
                <a:solidFill>
                  <a:schemeClr val="bg1"/>
                </a:solidFill>
                <a:latin typeface="Aptos"/>
              </a:rPr>
              <a:t>oluşturmak</a:t>
            </a:r>
            <a:r>
              <a:rPr sz="1100" dirty="0">
                <a:solidFill>
                  <a:schemeClr val="bg1"/>
                </a:solidFill>
                <a:latin typeface="Aptos"/>
              </a:rPr>
              <a:t>.</a:t>
            </a:r>
          </a:p>
        </p:txBody>
      </p:sp>
      <p:sp>
        <p:nvSpPr>
          <p:cNvPr id="11" name="Rounded Rectangle 10"/>
          <p:cNvSpPr/>
          <p:nvPr/>
        </p:nvSpPr>
        <p:spPr>
          <a:xfrm>
            <a:off x="6217920" y="1737360"/>
            <a:ext cx="5303520" cy="4069080"/>
          </a:xfrm>
          <a:prstGeom prst="roundRect">
            <a:avLst/>
          </a:prstGeom>
          <a:solidFill>
            <a:srgbClr val="122239"/>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446520" y="1965960"/>
            <a:ext cx="438912" cy="438912"/>
          </a:xfrm>
          <a:prstGeom prst="ellipse">
            <a:avLst/>
          </a:prstGeom>
          <a:solidFill>
            <a:srgbClr val="6FE2B1"/>
          </a:solidFill>
          <a:ln>
            <a:solidFill>
              <a:srgbClr val="6FE2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1997964"/>
            <a:ext cx="438912" cy="164592"/>
          </a:xfrm>
          <a:prstGeom prst="rect">
            <a:avLst/>
          </a:prstGeom>
          <a:noFill/>
        </p:spPr>
        <p:txBody>
          <a:bodyPr wrap="square" anchor="t">
            <a:spAutoFit/>
          </a:bodyPr>
          <a:lstStyle/>
          <a:p>
            <a:pPr algn="ctr"/>
            <a:r>
              <a:rPr sz="900" b="1">
                <a:solidFill>
                  <a:srgbClr val="091426"/>
                </a:solidFill>
                <a:latin typeface="Aptos"/>
              </a:rPr>
              <a:t>02</a:t>
            </a:r>
          </a:p>
        </p:txBody>
      </p:sp>
      <p:sp>
        <p:nvSpPr>
          <p:cNvPr id="14" name="TextBox 13"/>
          <p:cNvSpPr txBox="1"/>
          <p:nvPr/>
        </p:nvSpPr>
        <p:spPr>
          <a:xfrm>
            <a:off x="6995159" y="1956815"/>
            <a:ext cx="4297679" cy="347472"/>
          </a:xfrm>
          <a:prstGeom prst="rect">
            <a:avLst/>
          </a:prstGeom>
          <a:noFill/>
        </p:spPr>
        <p:txBody>
          <a:bodyPr wrap="square" anchor="t">
            <a:spAutoFit/>
          </a:bodyPr>
          <a:lstStyle/>
          <a:p>
            <a:pPr algn="l"/>
            <a:r>
              <a:rPr sz="1500" b="1">
                <a:solidFill>
                  <a:srgbClr val="F5F8FC"/>
                </a:solidFill>
                <a:latin typeface="Aptos"/>
              </a:rPr>
              <a:t>KAPSAM</a:t>
            </a:r>
          </a:p>
        </p:txBody>
      </p:sp>
      <p:sp>
        <p:nvSpPr>
          <p:cNvPr id="18" name="TextBox 17"/>
          <p:cNvSpPr txBox="1"/>
          <p:nvPr/>
        </p:nvSpPr>
        <p:spPr>
          <a:xfrm>
            <a:off x="594360" y="6473952"/>
            <a:ext cx="6400800" cy="182880"/>
          </a:xfrm>
          <a:prstGeom prst="rect">
            <a:avLst/>
          </a:prstGeom>
          <a:noFill/>
        </p:spPr>
        <p:txBody>
          <a:bodyPr wrap="square" anchor="t">
            <a:spAutoFit/>
          </a:bodyPr>
          <a:lstStyle/>
          <a:p>
            <a:pPr algn="l"/>
            <a:r>
              <a:rPr sz="800" b="0">
                <a:solidFill>
                  <a:srgbClr val="A5B5C9"/>
                </a:solidFill>
                <a:latin typeface="Aptos"/>
              </a:rPr>
              <a:t>Titanik Veri Analizi Projesi</a:t>
            </a:r>
          </a:p>
        </p:txBody>
      </p:sp>
      <p:sp>
        <p:nvSpPr>
          <p:cNvPr id="21" name="Rectangle 3"/>
          <p:cNvSpPr>
            <a:spLocks noChangeArrowheads="1"/>
          </p:cNvSpPr>
          <p:nvPr/>
        </p:nvSpPr>
        <p:spPr bwMode="auto">
          <a:xfrm>
            <a:off x="6727370" y="2537267"/>
            <a:ext cx="4170785"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100" b="0" i="0" u="none" strike="noStrike" cap="none" normalizeH="0" baseline="0" dirty="0" smtClean="0">
                <a:ln>
                  <a:noFill/>
                </a:ln>
                <a:solidFill>
                  <a:schemeClr val="bg1"/>
                </a:solidFill>
                <a:effectLst/>
                <a:latin typeface="Aptos"/>
              </a:rPr>
              <a:t>Bu projede </a:t>
            </a:r>
            <a:r>
              <a:rPr kumimoji="0" lang="tr-TR" altLang="tr-TR" sz="1100" b="0" i="0" u="none" strike="noStrike" cap="none" normalizeH="0" baseline="0" dirty="0" err="1" smtClean="0">
                <a:ln>
                  <a:noFill/>
                </a:ln>
                <a:solidFill>
                  <a:schemeClr val="bg1"/>
                </a:solidFill>
                <a:effectLst/>
                <a:latin typeface="Aptos"/>
              </a:rPr>
              <a:t>Titanic</a:t>
            </a:r>
            <a:r>
              <a:rPr kumimoji="0" lang="tr-TR" altLang="tr-TR" sz="1100" b="0" i="0" u="none" strike="noStrike" cap="none" normalizeH="0" baseline="0" dirty="0" smtClean="0">
                <a:ln>
                  <a:noFill/>
                </a:ln>
                <a:solidFill>
                  <a:schemeClr val="bg1"/>
                </a:solidFill>
                <a:effectLst/>
                <a:latin typeface="Aptos"/>
              </a:rPr>
              <a:t> veri seti analiz edilerek makine öğrenmesi için uygun hale getirilecektir. Veri temizleme, eksik ve aykırı değerlerin düzenlenmesi ve ölçekleme işlemlerinin ardından yaş, cinsiyet ve bilet sınıfı gibi özellikler analiz edilerek farklı modeller karşılaştırılacak ve en uygun model belirlenecektir</a:t>
            </a:r>
            <a:r>
              <a:rPr kumimoji="0" lang="tr-TR" altLang="tr-TR" sz="1100" b="0" i="0" u="none" strike="noStrike" cap="none" normalizeH="0" baseline="0" dirty="0" smtClean="0">
                <a:ln>
                  <a:noFill/>
                </a:ln>
                <a:solidFill>
                  <a:schemeClr val="bg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tr-TR" altLang="tr-TR" sz="1100" dirty="0" err="1" smtClean="0">
                <a:solidFill>
                  <a:schemeClr val="bg1"/>
                </a:solidFill>
                <a:latin typeface="Arial" panose="020B0604020202020204" pitchFamily="34" charset="0"/>
              </a:rPr>
              <a:t>Frontend</a:t>
            </a:r>
            <a:r>
              <a:rPr lang="tr-TR" altLang="tr-TR" sz="1100" dirty="0" smtClean="0">
                <a:solidFill>
                  <a:schemeClr val="bg1"/>
                </a:solidFill>
                <a:latin typeface="Arial" panose="020B0604020202020204" pitchFamily="34" charset="0"/>
              </a:rPr>
              <a:t> uygulamaları bu proje kapsamına dahil değildir.</a:t>
            </a:r>
            <a:endParaRPr kumimoji="0" lang="tr-TR" altLang="tr-TR" sz="1100" b="0" i="0" u="none" strike="noStrike" cap="none" normalizeH="0" baseline="0" dirty="0" smtClean="0">
              <a:ln>
                <a:noFill/>
              </a:ln>
              <a:solidFill>
                <a:schemeClr val="bg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1426"/>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5303520" cy="274320"/>
          </a:xfrm>
          <a:prstGeom prst="rect">
            <a:avLst/>
          </a:prstGeom>
          <a:noFill/>
        </p:spPr>
        <p:txBody>
          <a:bodyPr wrap="square" anchor="t">
            <a:spAutoFit/>
          </a:bodyPr>
          <a:lstStyle/>
          <a:p>
            <a:pPr algn="l"/>
            <a:r>
              <a:rPr sz="1000" b="1">
                <a:solidFill>
                  <a:srgbClr val="46AAFF"/>
                </a:solidFill>
                <a:latin typeface="Aptos"/>
              </a:rPr>
              <a:t>02 / ÇÖZÜM</a:t>
            </a:r>
          </a:p>
        </p:txBody>
      </p:sp>
      <p:sp>
        <p:nvSpPr>
          <p:cNvPr id="3" name="TextBox 2"/>
          <p:cNvSpPr txBox="1"/>
          <p:nvPr/>
        </p:nvSpPr>
        <p:spPr>
          <a:xfrm>
            <a:off x="594360" y="658368"/>
            <a:ext cx="10515600" cy="640080"/>
          </a:xfrm>
          <a:prstGeom prst="rect">
            <a:avLst/>
          </a:prstGeom>
          <a:noFill/>
        </p:spPr>
        <p:txBody>
          <a:bodyPr wrap="square" anchor="t">
            <a:spAutoFit/>
          </a:bodyPr>
          <a:lstStyle/>
          <a:p>
            <a:pPr algn="l"/>
            <a:r>
              <a:rPr sz="2800" b="1">
                <a:solidFill>
                  <a:srgbClr val="F5F8FC"/>
                </a:solidFill>
                <a:latin typeface="Aptos"/>
              </a:rPr>
              <a:t>Çözüm Diyagramı</a:t>
            </a:r>
          </a:p>
        </p:txBody>
      </p:sp>
      <p:sp>
        <p:nvSpPr>
          <p:cNvPr id="4" name="TextBox 3"/>
          <p:cNvSpPr txBox="1"/>
          <p:nvPr/>
        </p:nvSpPr>
        <p:spPr>
          <a:xfrm>
            <a:off x="11064240" y="411480"/>
            <a:ext cx="502920" cy="411480"/>
          </a:xfrm>
          <a:prstGeom prst="rect">
            <a:avLst/>
          </a:prstGeom>
          <a:noFill/>
        </p:spPr>
        <p:txBody>
          <a:bodyPr wrap="square" anchor="t">
            <a:spAutoFit/>
          </a:bodyPr>
          <a:lstStyle/>
          <a:p>
            <a:pPr algn="r"/>
            <a:r>
              <a:rPr sz="1200" b="1">
                <a:solidFill>
                  <a:srgbClr val="A5B5C9"/>
                </a:solidFill>
                <a:latin typeface="Aptos"/>
              </a:rPr>
              <a:t>3</a:t>
            </a:r>
          </a:p>
        </p:txBody>
      </p:sp>
      <p:sp>
        <p:nvSpPr>
          <p:cNvPr id="5" name="Rectangle 4"/>
          <p:cNvSpPr/>
          <p:nvPr/>
        </p:nvSpPr>
        <p:spPr>
          <a:xfrm>
            <a:off x="594360" y="1353312"/>
            <a:ext cx="10972800" cy="13716"/>
          </a:xfrm>
          <a:prstGeom prst="rect">
            <a:avLst/>
          </a:prstGeom>
          <a:solidFill>
            <a:srgbClr val="46AAFF"/>
          </a:solidFill>
          <a:ln>
            <a:solidFill>
              <a:srgbClr val="46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02920" y="2057400"/>
            <a:ext cx="1965960" cy="2331720"/>
          </a:xfrm>
          <a:prstGeom prst="roundRect">
            <a:avLst/>
          </a:prstGeom>
          <a:solidFill>
            <a:srgbClr val="122239"/>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70432" y="1627632"/>
            <a:ext cx="621792" cy="621792"/>
          </a:xfrm>
          <a:prstGeom prst="ellipse">
            <a:avLst/>
          </a:prstGeom>
          <a:solidFill>
            <a:srgbClr val="46AAFF"/>
          </a:solidFill>
          <a:ln>
            <a:solidFill>
              <a:srgbClr val="46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70432" y="1810512"/>
            <a:ext cx="621792" cy="182880"/>
          </a:xfrm>
          <a:prstGeom prst="rect">
            <a:avLst/>
          </a:prstGeom>
          <a:noFill/>
        </p:spPr>
        <p:txBody>
          <a:bodyPr wrap="square" anchor="t">
            <a:spAutoFit/>
          </a:bodyPr>
          <a:lstStyle/>
          <a:p>
            <a:pPr algn="ctr"/>
            <a:r>
              <a:rPr sz="800" b="1">
                <a:solidFill>
                  <a:srgbClr val="091426"/>
                </a:solidFill>
                <a:latin typeface="Aptos"/>
              </a:rPr>
              <a:t>INPUT</a:t>
            </a:r>
          </a:p>
        </p:txBody>
      </p:sp>
      <p:sp>
        <p:nvSpPr>
          <p:cNvPr id="9" name="TextBox 8"/>
          <p:cNvSpPr txBox="1"/>
          <p:nvPr/>
        </p:nvSpPr>
        <p:spPr>
          <a:xfrm>
            <a:off x="667512" y="2542032"/>
            <a:ext cx="1645920" cy="914400"/>
          </a:xfrm>
          <a:prstGeom prst="rect">
            <a:avLst/>
          </a:prstGeom>
          <a:noFill/>
        </p:spPr>
        <p:txBody>
          <a:bodyPr wrap="square" anchor="t">
            <a:spAutoFit/>
          </a:bodyPr>
          <a:lstStyle/>
          <a:p>
            <a:pPr algn="ctr"/>
            <a:r>
              <a:rPr sz="1200" b="1">
                <a:solidFill>
                  <a:srgbClr val="F5F8FC"/>
                </a:solidFill>
                <a:latin typeface="Aptos"/>
              </a:rPr>
              <a:t>Ham Yolcu Verileri
train.csv / test.csv</a:t>
            </a:r>
          </a:p>
        </p:txBody>
      </p:sp>
      <p:cxnSp>
        <p:nvCxnSpPr>
          <p:cNvPr id="10" name="Connector 9"/>
          <p:cNvCxnSpPr/>
          <p:nvPr/>
        </p:nvCxnSpPr>
        <p:spPr>
          <a:xfrm>
            <a:off x="2468880" y="3227832"/>
            <a:ext cx="320040" cy="0"/>
          </a:xfrm>
          <a:prstGeom prst="line">
            <a:avLst/>
          </a:prstGeom>
          <a:ln w="25400">
            <a:solidFill>
              <a:srgbClr val="46AAFF"/>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34639" y="2057400"/>
            <a:ext cx="1965960" cy="2331720"/>
          </a:xfrm>
          <a:prstGeom prst="roundRect">
            <a:avLst/>
          </a:prstGeom>
          <a:solidFill>
            <a:srgbClr val="122239"/>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502151" y="1627632"/>
            <a:ext cx="621792" cy="621792"/>
          </a:xfrm>
          <a:prstGeom prst="ellipse">
            <a:avLst/>
          </a:prstGeom>
          <a:solidFill>
            <a:srgbClr val="6FE2B1"/>
          </a:solidFill>
          <a:ln>
            <a:solidFill>
              <a:srgbClr val="6FE2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02151" y="1810512"/>
            <a:ext cx="621792" cy="182880"/>
          </a:xfrm>
          <a:prstGeom prst="rect">
            <a:avLst/>
          </a:prstGeom>
          <a:noFill/>
        </p:spPr>
        <p:txBody>
          <a:bodyPr wrap="square" anchor="t">
            <a:spAutoFit/>
          </a:bodyPr>
          <a:lstStyle/>
          <a:p>
            <a:pPr algn="ctr"/>
            <a:r>
              <a:rPr sz="800" b="1">
                <a:solidFill>
                  <a:srgbClr val="091426"/>
                </a:solidFill>
                <a:latin typeface="Aptos"/>
              </a:rPr>
              <a:t>01</a:t>
            </a:r>
          </a:p>
        </p:txBody>
      </p:sp>
      <p:sp>
        <p:nvSpPr>
          <p:cNvPr id="14" name="TextBox 13"/>
          <p:cNvSpPr txBox="1"/>
          <p:nvPr/>
        </p:nvSpPr>
        <p:spPr>
          <a:xfrm>
            <a:off x="2999232" y="2542032"/>
            <a:ext cx="1645920" cy="914400"/>
          </a:xfrm>
          <a:prstGeom prst="rect">
            <a:avLst/>
          </a:prstGeom>
          <a:noFill/>
        </p:spPr>
        <p:txBody>
          <a:bodyPr wrap="square" anchor="t">
            <a:spAutoFit/>
          </a:bodyPr>
          <a:lstStyle/>
          <a:p>
            <a:pPr algn="ctr"/>
            <a:r>
              <a:rPr sz="1200" b="1">
                <a:solidFill>
                  <a:srgbClr val="F5F8FC"/>
                </a:solidFill>
                <a:latin typeface="Aptos"/>
              </a:rPr>
              <a:t>Veri Hazırlığı
Hatalı ve eksik kayıtların düzenlenmesi</a:t>
            </a:r>
          </a:p>
        </p:txBody>
      </p:sp>
      <p:cxnSp>
        <p:nvCxnSpPr>
          <p:cNvPr id="15" name="Connector 14"/>
          <p:cNvCxnSpPr/>
          <p:nvPr/>
        </p:nvCxnSpPr>
        <p:spPr>
          <a:xfrm>
            <a:off x="4800600" y="3227832"/>
            <a:ext cx="320040" cy="0"/>
          </a:xfrm>
          <a:prstGeom prst="line">
            <a:avLst/>
          </a:prstGeom>
          <a:ln w="25400">
            <a:solidFill>
              <a:srgbClr val="46AAFF"/>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166359" y="2057400"/>
            <a:ext cx="1965960" cy="2331720"/>
          </a:xfrm>
          <a:prstGeom prst="roundRect">
            <a:avLst/>
          </a:prstGeom>
          <a:solidFill>
            <a:srgbClr val="122239"/>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5833871" y="1627632"/>
            <a:ext cx="621792" cy="621792"/>
          </a:xfrm>
          <a:prstGeom prst="ellipse">
            <a:avLst/>
          </a:prstGeom>
          <a:solidFill>
            <a:srgbClr val="FFB547"/>
          </a:solidFill>
          <a:ln>
            <a:solidFill>
              <a:srgbClr val="FF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833871" y="1810512"/>
            <a:ext cx="621792" cy="182880"/>
          </a:xfrm>
          <a:prstGeom prst="rect">
            <a:avLst/>
          </a:prstGeom>
          <a:noFill/>
        </p:spPr>
        <p:txBody>
          <a:bodyPr wrap="square" anchor="t">
            <a:spAutoFit/>
          </a:bodyPr>
          <a:lstStyle/>
          <a:p>
            <a:pPr algn="ctr"/>
            <a:r>
              <a:rPr sz="800" b="1">
                <a:solidFill>
                  <a:srgbClr val="091426"/>
                </a:solidFill>
                <a:latin typeface="Aptos"/>
              </a:rPr>
              <a:t>02</a:t>
            </a:r>
          </a:p>
        </p:txBody>
      </p:sp>
      <p:sp>
        <p:nvSpPr>
          <p:cNvPr id="19" name="TextBox 18"/>
          <p:cNvSpPr txBox="1"/>
          <p:nvPr/>
        </p:nvSpPr>
        <p:spPr>
          <a:xfrm>
            <a:off x="5330951" y="2542032"/>
            <a:ext cx="1645920" cy="914400"/>
          </a:xfrm>
          <a:prstGeom prst="rect">
            <a:avLst/>
          </a:prstGeom>
          <a:noFill/>
        </p:spPr>
        <p:txBody>
          <a:bodyPr wrap="square" anchor="t">
            <a:spAutoFit/>
          </a:bodyPr>
          <a:lstStyle/>
          <a:p>
            <a:pPr algn="ctr"/>
            <a:r>
              <a:rPr sz="1200" b="1">
                <a:solidFill>
                  <a:srgbClr val="F5F8FC"/>
                </a:solidFill>
                <a:latin typeface="Aptos"/>
              </a:rPr>
              <a:t>Veri Analizi
Yaş, cinsiyet ve bilet sınıfının etkisi</a:t>
            </a:r>
          </a:p>
        </p:txBody>
      </p:sp>
      <p:cxnSp>
        <p:nvCxnSpPr>
          <p:cNvPr id="20" name="Connector 19"/>
          <p:cNvCxnSpPr/>
          <p:nvPr/>
        </p:nvCxnSpPr>
        <p:spPr>
          <a:xfrm>
            <a:off x="7132319" y="3227832"/>
            <a:ext cx="320040" cy="0"/>
          </a:xfrm>
          <a:prstGeom prst="line">
            <a:avLst/>
          </a:prstGeom>
          <a:ln w="25400">
            <a:solidFill>
              <a:srgbClr val="46AAFF"/>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498079" y="2057400"/>
            <a:ext cx="1965960" cy="2331720"/>
          </a:xfrm>
          <a:prstGeom prst="roundRect">
            <a:avLst/>
          </a:prstGeom>
          <a:solidFill>
            <a:srgbClr val="122239"/>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165592" y="1627632"/>
            <a:ext cx="621792" cy="621792"/>
          </a:xfrm>
          <a:prstGeom prst="ellipse">
            <a:avLst/>
          </a:prstGeom>
          <a:solidFill>
            <a:srgbClr val="46AAFF"/>
          </a:solidFill>
          <a:ln>
            <a:solidFill>
              <a:srgbClr val="46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65592" y="1810512"/>
            <a:ext cx="621792" cy="182880"/>
          </a:xfrm>
          <a:prstGeom prst="rect">
            <a:avLst/>
          </a:prstGeom>
          <a:noFill/>
        </p:spPr>
        <p:txBody>
          <a:bodyPr wrap="square" anchor="t">
            <a:spAutoFit/>
          </a:bodyPr>
          <a:lstStyle/>
          <a:p>
            <a:pPr algn="ctr"/>
            <a:r>
              <a:rPr sz="800" b="1">
                <a:solidFill>
                  <a:srgbClr val="091426"/>
                </a:solidFill>
                <a:latin typeface="Aptos"/>
              </a:rPr>
              <a:t>03</a:t>
            </a:r>
          </a:p>
        </p:txBody>
      </p:sp>
      <p:sp>
        <p:nvSpPr>
          <p:cNvPr id="24" name="TextBox 23"/>
          <p:cNvSpPr txBox="1"/>
          <p:nvPr/>
        </p:nvSpPr>
        <p:spPr>
          <a:xfrm>
            <a:off x="7662671" y="2542032"/>
            <a:ext cx="1645920" cy="914400"/>
          </a:xfrm>
          <a:prstGeom prst="rect">
            <a:avLst/>
          </a:prstGeom>
          <a:noFill/>
        </p:spPr>
        <p:txBody>
          <a:bodyPr wrap="square" anchor="t">
            <a:spAutoFit/>
          </a:bodyPr>
          <a:lstStyle/>
          <a:p>
            <a:pPr algn="ctr"/>
            <a:r>
              <a:rPr sz="1200" b="1">
                <a:solidFill>
                  <a:srgbClr val="F5F8FC"/>
                </a:solidFill>
                <a:latin typeface="Aptos"/>
              </a:rPr>
              <a:t>Modelleme
Geçmiş verilere göre tahmin</a:t>
            </a:r>
          </a:p>
        </p:txBody>
      </p:sp>
      <p:cxnSp>
        <p:nvCxnSpPr>
          <p:cNvPr id="25" name="Connector 24"/>
          <p:cNvCxnSpPr/>
          <p:nvPr/>
        </p:nvCxnSpPr>
        <p:spPr>
          <a:xfrm>
            <a:off x="9464040" y="3227832"/>
            <a:ext cx="320040" cy="0"/>
          </a:xfrm>
          <a:prstGeom prst="line">
            <a:avLst/>
          </a:prstGeom>
          <a:ln w="25400">
            <a:solidFill>
              <a:srgbClr val="46AAFF"/>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829800" y="2057400"/>
            <a:ext cx="1965960" cy="2331720"/>
          </a:xfrm>
          <a:prstGeom prst="roundRect">
            <a:avLst/>
          </a:prstGeom>
          <a:solidFill>
            <a:srgbClr val="122239"/>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0497312" y="1627632"/>
            <a:ext cx="621792" cy="621792"/>
          </a:xfrm>
          <a:prstGeom prst="ellipse">
            <a:avLst/>
          </a:prstGeom>
          <a:solidFill>
            <a:srgbClr val="6FE2B1"/>
          </a:solidFill>
          <a:ln>
            <a:solidFill>
              <a:srgbClr val="6FE2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497312" y="1810512"/>
            <a:ext cx="621792" cy="182880"/>
          </a:xfrm>
          <a:prstGeom prst="rect">
            <a:avLst/>
          </a:prstGeom>
          <a:noFill/>
        </p:spPr>
        <p:txBody>
          <a:bodyPr wrap="square" anchor="t">
            <a:spAutoFit/>
          </a:bodyPr>
          <a:lstStyle/>
          <a:p>
            <a:pPr algn="ctr"/>
            <a:r>
              <a:rPr sz="800" b="1">
                <a:solidFill>
                  <a:srgbClr val="091426"/>
                </a:solidFill>
                <a:latin typeface="Aptos"/>
              </a:rPr>
              <a:t>OUTPUT</a:t>
            </a:r>
          </a:p>
        </p:txBody>
      </p:sp>
      <p:sp>
        <p:nvSpPr>
          <p:cNvPr id="29" name="TextBox 28"/>
          <p:cNvSpPr txBox="1"/>
          <p:nvPr/>
        </p:nvSpPr>
        <p:spPr>
          <a:xfrm>
            <a:off x="9994392" y="2542032"/>
            <a:ext cx="1645920" cy="914400"/>
          </a:xfrm>
          <a:prstGeom prst="rect">
            <a:avLst/>
          </a:prstGeom>
          <a:noFill/>
        </p:spPr>
        <p:txBody>
          <a:bodyPr wrap="square" anchor="t">
            <a:spAutoFit/>
          </a:bodyPr>
          <a:lstStyle/>
          <a:p>
            <a:pPr algn="ctr"/>
            <a:r>
              <a:rPr sz="1200" b="1">
                <a:solidFill>
                  <a:srgbClr val="F5F8FC"/>
                </a:solidFill>
                <a:latin typeface="Aptos"/>
              </a:rPr>
              <a:t>Hayatta Kalma Tahmin Modeli
ve Başarı Sonuçları</a:t>
            </a:r>
          </a:p>
        </p:txBody>
      </p:sp>
      <p:sp>
        <p:nvSpPr>
          <p:cNvPr id="30" name="TextBox 29"/>
          <p:cNvSpPr txBox="1"/>
          <p:nvPr/>
        </p:nvSpPr>
        <p:spPr>
          <a:xfrm>
            <a:off x="685800" y="5074920"/>
            <a:ext cx="10789920" cy="365760"/>
          </a:xfrm>
          <a:prstGeom prst="rect">
            <a:avLst/>
          </a:prstGeom>
          <a:noFill/>
        </p:spPr>
        <p:txBody>
          <a:bodyPr wrap="square" anchor="t">
            <a:spAutoFit/>
          </a:bodyPr>
          <a:lstStyle/>
          <a:p>
            <a:pPr algn="ctr"/>
            <a:r>
              <a:rPr sz="1300" b="0">
                <a:solidFill>
                  <a:srgbClr val="A5B5C9"/>
                </a:solidFill>
                <a:latin typeface="Aptos"/>
              </a:rPr>
              <a:t>Uçtan uca veri → analiz → model → tahmin akışı</a:t>
            </a:r>
          </a:p>
        </p:txBody>
      </p:sp>
      <p:sp>
        <p:nvSpPr>
          <p:cNvPr id="31" name="TextBox 30"/>
          <p:cNvSpPr txBox="1"/>
          <p:nvPr/>
        </p:nvSpPr>
        <p:spPr>
          <a:xfrm>
            <a:off x="594360" y="6473952"/>
            <a:ext cx="6400800" cy="182880"/>
          </a:xfrm>
          <a:prstGeom prst="rect">
            <a:avLst/>
          </a:prstGeom>
          <a:noFill/>
        </p:spPr>
        <p:txBody>
          <a:bodyPr wrap="square" anchor="t">
            <a:spAutoFit/>
          </a:bodyPr>
          <a:lstStyle/>
          <a:p>
            <a:pPr algn="l"/>
            <a:r>
              <a:rPr sz="800" b="0">
                <a:solidFill>
                  <a:srgbClr val="A5B5C9"/>
                </a:solidFill>
                <a:latin typeface="Aptos"/>
              </a:rPr>
              <a:t>Titanik Veri Analizi Projesi</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1426"/>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5303520" cy="274320"/>
          </a:xfrm>
          <a:prstGeom prst="rect">
            <a:avLst/>
          </a:prstGeom>
          <a:noFill/>
        </p:spPr>
        <p:txBody>
          <a:bodyPr wrap="square" anchor="t">
            <a:spAutoFit/>
          </a:bodyPr>
          <a:lstStyle/>
          <a:p>
            <a:pPr algn="l"/>
            <a:r>
              <a:rPr sz="1000" b="1">
                <a:solidFill>
                  <a:srgbClr val="46AAFF"/>
                </a:solidFill>
                <a:latin typeface="Aptos"/>
              </a:rPr>
              <a:t>03 / PLANLAMA</a:t>
            </a:r>
          </a:p>
        </p:txBody>
      </p:sp>
      <p:sp>
        <p:nvSpPr>
          <p:cNvPr id="3" name="TextBox 2"/>
          <p:cNvSpPr txBox="1"/>
          <p:nvPr/>
        </p:nvSpPr>
        <p:spPr>
          <a:xfrm>
            <a:off x="594360" y="658368"/>
            <a:ext cx="10515600" cy="640080"/>
          </a:xfrm>
          <a:prstGeom prst="rect">
            <a:avLst/>
          </a:prstGeom>
          <a:noFill/>
        </p:spPr>
        <p:txBody>
          <a:bodyPr wrap="square" anchor="t">
            <a:spAutoFit/>
          </a:bodyPr>
          <a:lstStyle/>
          <a:p>
            <a:pPr algn="l"/>
            <a:r>
              <a:rPr sz="2800" b="1">
                <a:solidFill>
                  <a:srgbClr val="F5F8FC"/>
                </a:solidFill>
                <a:latin typeface="Aptos"/>
              </a:rPr>
              <a:t>Proje Planı</a:t>
            </a:r>
          </a:p>
        </p:txBody>
      </p:sp>
      <p:sp>
        <p:nvSpPr>
          <p:cNvPr id="4" name="TextBox 3"/>
          <p:cNvSpPr txBox="1"/>
          <p:nvPr/>
        </p:nvSpPr>
        <p:spPr>
          <a:xfrm>
            <a:off x="11064240" y="411480"/>
            <a:ext cx="502920" cy="411480"/>
          </a:xfrm>
          <a:prstGeom prst="rect">
            <a:avLst/>
          </a:prstGeom>
          <a:noFill/>
        </p:spPr>
        <p:txBody>
          <a:bodyPr wrap="square" anchor="t">
            <a:spAutoFit/>
          </a:bodyPr>
          <a:lstStyle/>
          <a:p>
            <a:pPr algn="r"/>
            <a:r>
              <a:rPr sz="1200" b="1">
                <a:solidFill>
                  <a:srgbClr val="A5B5C9"/>
                </a:solidFill>
                <a:latin typeface="Aptos"/>
              </a:rPr>
              <a:t>4</a:t>
            </a:r>
          </a:p>
        </p:txBody>
      </p:sp>
      <p:sp>
        <p:nvSpPr>
          <p:cNvPr id="5" name="Rectangle 4"/>
          <p:cNvSpPr/>
          <p:nvPr/>
        </p:nvSpPr>
        <p:spPr>
          <a:xfrm>
            <a:off x="594360" y="1353312"/>
            <a:ext cx="10972800" cy="13716"/>
          </a:xfrm>
          <a:prstGeom prst="rect">
            <a:avLst/>
          </a:prstGeom>
          <a:solidFill>
            <a:srgbClr val="46AAFF"/>
          </a:solidFill>
          <a:ln>
            <a:solidFill>
              <a:srgbClr val="46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1691640"/>
            <a:ext cx="2971800" cy="1874519"/>
          </a:xfrm>
          <a:prstGeom prst="roundRect">
            <a:avLst/>
          </a:prstGeom>
          <a:solidFill>
            <a:srgbClr val="122239"/>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14400" y="1920240"/>
            <a:ext cx="438912" cy="438912"/>
          </a:xfrm>
          <a:prstGeom prst="ellipse">
            <a:avLst/>
          </a:prstGeom>
          <a:solidFill>
            <a:srgbClr val="46AAFF"/>
          </a:solidFill>
          <a:ln>
            <a:solidFill>
              <a:srgbClr val="46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952244"/>
            <a:ext cx="438912" cy="164592"/>
          </a:xfrm>
          <a:prstGeom prst="rect">
            <a:avLst/>
          </a:prstGeom>
          <a:noFill/>
        </p:spPr>
        <p:txBody>
          <a:bodyPr wrap="square" anchor="t">
            <a:spAutoFit/>
          </a:bodyPr>
          <a:lstStyle/>
          <a:p>
            <a:pPr algn="ctr"/>
            <a:r>
              <a:rPr sz="900" b="1">
                <a:solidFill>
                  <a:srgbClr val="091426"/>
                </a:solidFill>
                <a:latin typeface="Aptos"/>
              </a:rPr>
              <a:t>01</a:t>
            </a:r>
          </a:p>
        </p:txBody>
      </p:sp>
      <p:sp>
        <p:nvSpPr>
          <p:cNvPr id="9" name="TextBox 8"/>
          <p:cNvSpPr txBox="1"/>
          <p:nvPr/>
        </p:nvSpPr>
        <p:spPr>
          <a:xfrm>
            <a:off x="1463040" y="1911095"/>
            <a:ext cx="1965960" cy="347472"/>
          </a:xfrm>
          <a:prstGeom prst="rect">
            <a:avLst/>
          </a:prstGeom>
          <a:noFill/>
        </p:spPr>
        <p:txBody>
          <a:bodyPr wrap="square" anchor="t">
            <a:spAutoFit/>
          </a:bodyPr>
          <a:lstStyle/>
          <a:p>
            <a:pPr algn="l"/>
            <a:r>
              <a:rPr sz="1500" b="1">
                <a:solidFill>
                  <a:srgbClr val="F5F8FC"/>
                </a:solidFill>
                <a:latin typeface="Aptos"/>
              </a:rPr>
              <a:t>Analiz &amp; İşi Anlama</a:t>
            </a:r>
          </a:p>
        </p:txBody>
      </p:sp>
      <p:sp>
        <p:nvSpPr>
          <p:cNvPr id="10" name="TextBox 9"/>
          <p:cNvSpPr txBox="1"/>
          <p:nvPr/>
        </p:nvSpPr>
        <p:spPr>
          <a:xfrm>
            <a:off x="941832" y="2496312"/>
            <a:ext cx="2459736" cy="914399"/>
          </a:xfrm>
          <a:prstGeom prst="rect">
            <a:avLst/>
          </a:prstGeom>
          <a:noFill/>
        </p:spPr>
        <p:txBody>
          <a:bodyPr wrap="square" anchor="t">
            <a:spAutoFit/>
          </a:bodyPr>
          <a:lstStyle/>
          <a:p>
            <a:pPr algn="l"/>
            <a:r>
              <a:rPr sz="1050" b="0">
                <a:solidFill>
                  <a:srgbClr val="A5B5C9"/>
                </a:solidFill>
                <a:latin typeface="Aptos"/>
              </a:rPr>
              <a:t>Yolcuların hayatta kalıp kalmadığının tahmin edilmesinin ikili sınıflandırma problemi olarak tanımlanması ve keşifsel veri analizinin yapılması.</a:t>
            </a:r>
          </a:p>
        </p:txBody>
      </p:sp>
      <p:sp>
        <p:nvSpPr>
          <p:cNvPr id="11" name="Rounded Rectangle 10"/>
          <p:cNvSpPr/>
          <p:nvPr/>
        </p:nvSpPr>
        <p:spPr>
          <a:xfrm>
            <a:off x="4160520" y="1691640"/>
            <a:ext cx="2971800" cy="1874519"/>
          </a:xfrm>
          <a:prstGeom prst="roundRect">
            <a:avLst/>
          </a:prstGeom>
          <a:solidFill>
            <a:srgbClr val="122239"/>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389120" y="1920240"/>
            <a:ext cx="438912" cy="438912"/>
          </a:xfrm>
          <a:prstGeom prst="ellipse">
            <a:avLst/>
          </a:prstGeom>
          <a:solidFill>
            <a:srgbClr val="6FE2B1"/>
          </a:solidFill>
          <a:ln>
            <a:solidFill>
              <a:srgbClr val="6FE2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20" y="1952244"/>
            <a:ext cx="438912" cy="164592"/>
          </a:xfrm>
          <a:prstGeom prst="rect">
            <a:avLst/>
          </a:prstGeom>
          <a:noFill/>
        </p:spPr>
        <p:txBody>
          <a:bodyPr wrap="square" anchor="t">
            <a:spAutoFit/>
          </a:bodyPr>
          <a:lstStyle/>
          <a:p>
            <a:pPr algn="ctr"/>
            <a:r>
              <a:rPr sz="900" b="1">
                <a:solidFill>
                  <a:srgbClr val="091426"/>
                </a:solidFill>
                <a:latin typeface="Aptos"/>
              </a:rPr>
              <a:t>02</a:t>
            </a:r>
          </a:p>
        </p:txBody>
      </p:sp>
      <p:sp>
        <p:nvSpPr>
          <p:cNvPr id="14" name="TextBox 13"/>
          <p:cNvSpPr txBox="1"/>
          <p:nvPr/>
        </p:nvSpPr>
        <p:spPr>
          <a:xfrm>
            <a:off x="4937759" y="1911095"/>
            <a:ext cx="1965960" cy="347472"/>
          </a:xfrm>
          <a:prstGeom prst="rect">
            <a:avLst/>
          </a:prstGeom>
          <a:noFill/>
        </p:spPr>
        <p:txBody>
          <a:bodyPr wrap="square" anchor="t">
            <a:spAutoFit/>
          </a:bodyPr>
          <a:lstStyle/>
          <a:p>
            <a:pPr algn="l"/>
            <a:r>
              <a:rPr sz="1500" b="1">
                <a:solidFill>
                  <a:srgbClr val="F5F8FC"/>
                </a:solidFill>
                <a:latin typeface="Aptos"/>
              </a:rPr>
              <a:t>Veri Temizleme</a:t>
            </a:r>
          </a:p>
        </p:txBody>
      </p:sp>
      <p:sp>
        <p:nvSpPr>
          <p:cNvPr id="15" name="TextBox 14"/>
          <p:cNvSpPr txBox="1"/>
          <p:nvPr/>
        </p:nvSpPr>
        <p:spPr>
          <a:xfrm>
            <a:off x="4416552" y="2496312"/>
            <a:ext cx="2459736" cy="914399"/>
          </a:xfrm>
          <a:prstGeom prst="rect">
            <a:avLst/>
          </a:prstGeom>
          <a:noFill/>
        </p:spPr>
        <p:txBody>
          <a:bodyPr wrap="square" anchor="t">
            <a:spAutoFit/>
          </a:bodyPr>
          <a:lstStyle/>
          <a:p>
            <a:pPr algn="l"/>
            <a:r>
              <a:rPr sz="1050" b="0">
                <a:solidFill>
                  <a:srgbClr val="A5B5C9"/>
                </a:solidFill>
                <a:latin typeface="Aptos"/>
              </a:rPr>
              <a:t>Eksik verilerin doldurulması, kategorik değişkenlerin kodlanması, unvan/aile büyüklüğü gibi özniteliklerin türetilmesi ve ölçekleme uygulanması.</a:t>
            </a:r>
          </a:p>
        </p:txBody>
      </p:sp>
      <p:sp>
        <p:nvSpPr>
          <p:cNvPr id="16" name="Rounded Rectangle 15"/>
          <p:cNvSpPr/>
          <p:nvPr/>
        </p:nvSpPr>
        <p:spPr>
          <a:xfrm>
            <a:off x="7635240" y="1691640"/>
            <a:ext cx="2971800" cy="1874519"/>
          </a:xfrm>
          <a:prstGeom prst="roundRect">
            <a:avLst/>
          </a:prstGeom>
          <a:solidFill>
            <a:srgbClr val="122239"/>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863840" y="1920240"/>
            <a:ext cx="438912" cy="438912"/>
          </a:xfrm>
          <a:prstGeom prst="ellipse">
            <a:avLst/>
          </a:prstGeom>
          <a:solidFill>
            <a:srgbClr val="FFB547"/>
          </a:solidFill>
          <a:ln>
            <a:solidFill>
              <a:srgbClr val="FF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63840" y="1952244"/>
            <a:ext cx="438912" cy="164592"/>
          </a:xfrm>
          <a:prstGeom prst="rect">
            <a:avLst/>
          </a:prstGeom>
          <a:noFill/>
        </p:spPr>
        <p:txBody>
          <a:bodyPr wrap="square" anchor="t">
            <a:spAutoFit/>
          </a:bodyPr>
          <a:lstStyle/>
          <a:p>
            <a:pPr algn="ctr"/>
            <a:r>
              <a:rPr sz="900" b="1">
                <a:solidFill>
                  <a:srgbClr val="091426"/>
                </a:solidFill>
                <a:latin typeface="Aptos"/>
              </a:rPr>
              <a:t>03</a:t>
            </a:r>
          </a:p>
        </p:txBody>
      </p:sp>
      <p:sp>
        <p:nvSpPr>
          <p:cNvPr id="19" name="TextBox 18"/>
          <p:cNvSpPr txBox="1"/>
          <p:nvPr/>
        </p:nvSpPr>
        <p:spPr>
          <a:xfrm>
            <a:off x="8412480" y="1911095"/>
            <a:ext cx="1965960" cy="347472"/>
          </a:xfrm>
          <a:prstGeom prst="rect">
            <a:avLst/>
          </a:prstGeom>
          <a:noFill/>
        </p:spPr>
        <p:txBody>
          <a:bodyPr wrap="square" anchor="t">
            <a:spAutoFit/>
          </a:bodyPr>
          <a:lstStyle/>
          <a:p>
            <a:pPr algn="l"/>
            <a:r>
              <a:rPr sz="1500" b="1">
                <a:solidFill>
                  <a:srgbClr val="F5F8FC"/>
                </a:solidFill>
                <a:latin typeface="Aptos"/>
              </a:rPr>
              <a:t>Modelin Eğitimi</a:t>
            </a:r>
          </a:p>
        </p:txBody>
      </p:sp>
      <p:sp>
        <p:nvSpPr>
          <p:cNvPr id="20" name="TextBox 19"/>
          <p:cNvSpPr txBox="1"/>
          <p:nvPr/>
        </p:nvSpPr>
        <p:spPr>
          <a:xfrm>
            <a:off x="7891271" y="2496312"/>
            <a:ext cx="2459736" cy="914399"/>
          </a:xfrm>
          <a:prstGeom prst="rect">
            <a:avLst/>
          </a:prstGeom>
          <a:noFill/>
        </p:spPr>
        <p:txBody>
          <a:bodyPr wrap="square" anchor="t">
            <a:spAutoFit/>
          </a:bodyPr>
          <a:lstStyle/>
          <a:p>
            <a:pPr algn="l"/>
            <a:r>
              <a:rPr sz="1050" b="0">
                <a:solidFill>
                  <a:srgbClr val="A5B5C9"/>
                </a:solidFill>
                <a:latin typeface="Aptos"/>
              </a:rPr>
              <a:t>Machine Learning modellerinin eğitim verisi üzerinde seçilmesi ve en optimal modelin bulunması.</a:t>
            </a:r>
          </a:p>
        </p:txBody>
      </p:sp>
      <p:sp>
        <p:nvSpPr>
          <p:cNvPr id="21" name="Rounded Rectangle 20"/>
          <p:cNvSpPr/>
          <p:nvPr/>
        </p:nvSpPr>
        <p:spPr>
          <a:xfrm>
            <a:off x="685800" y="3977639"/>
            <a:ext cx="2971800" cy="1874519"/>
          </a:xfrm>
          <a:prstGeom prst="roundRect">
            <a:avLst/>
          </a:prstGeom>
          <a:solidFill>
            <a:srgbClr val="122239"/>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14400" y="4206240"/>
            <a:ext cx="438912" cy="438912"/>
          </a:xfrm>
          <a:prstGeom prst="ellipse">
            <a:avLst/>
          </a:prstGeom>
          <a:solidFill>
            <a:srgbClr val="46AAFF"/>
          </a:solidFill>
          <a:ln>
            <a:solidFill>
              <a:srgbClr val="46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4238244"/>
            <a:ext cx="438912" cy="164592"/>
          </a:xfrm>
          <a:prstGeom prst="rect">
            <a:avLst/>
          </a:prstGeom>
          <a:noFill/>
        </p:spPr>
        <p:txBody>
          <a:bodyPr wrap="square" anchor="t">
            <a:spAutoFit/>
          </a:bodyPr>
          <a:lstStyle/>
          <a:p>
            <a:pPr algn="ctr"/>
            <a:r>
              <a:rPr sz="900" b="1">
                <a:solidFill>
                  <a:srgbClr val="091426"/>
                </a:solidFill>
                <a:latin typeface="Aptos"/>
              </a:rPr>
              <a:t>04</a:t>
            </a:r>
          </a:p>
        </p:txBody>
      </p:sp>
      <p:sp>
        <p:nvSpPr>
          <p:cNvPr id="24" name="TextBox 23"/>
          <p:cNvSpPr txBox="1"/>
          <p:nvPr/>
        </p:nvSpPr>
        <p:spPr>
          <a:xfrm>
            <a:off x="1463040" y="4197096"/>
            <a:ext cx="1965960" cy="347472"/>
          </a:xfrm>
          <a:prstGeom prst="rect">
            <a:avLst/>
          </a:prstGeom>
          <a:noFill/>
        </p:spPr>
        <p:txBody>
          <a:bodyPr wrap="square" anchor="t">
            <a:spAutoFit/>
          </a:bodyPr>
          <a:lstStyle/>
          <a:p>
            <a:pPr algn="l"/>
            <a:r>
              <a:rPr sz="1500" b="1">
                <a:solidFill>
                  <a:srgbClr val="F5F8FC"/>
                </a:solidFill>
                <a:latin typeface="Aptos"/>
              </a:rPr>
              <a:t>Model Karşılaştırma ve Değerlendirme</a:t>
            </a:r>
          </a:p>
        </p:txBody>
      </p:sp>
      <p:sp>
        <p:nvSpPr>
          <p:cNvPr id="25" name="TextBox 24"/>
          <p:cNvSpPr txBox="1"/>
          <p:nvPr/>
        </p:nvSpPr>
        <p:spPr>
          <a:xfrm>
            <a:off x="941832" y="4993462"/>
            <a:ext cx="2459736" cy="914399"/>
          </a:xfrm>
          <a:prstGeom prst="rect">
            <a:avLst/>
          </a:prstGeom>
          <a:noFill/>
        </p:spPr>
        <p:txBody>
          <a:bodyPr wrap="square" anchor="t">
            <a:spAutoFit/>
          </a:bodyPr>
          <a:lstStyle/>
          <a:p>
            <a:pPr algn="l"/>
            <a:r>
              <a:rPr sz="1050" b="0" dirty="0">
                <a:solidFill>
                  <a:srgbClr val="A5B5C9"/>
                </a:solidFill>
                <a:latin typeface="Aptos"/>
              </a:rPr>
              <a:t>Confusion Matrix, Precision, Recall </a:t>
            </a:r>
            <a:r>
              <a:rPr sz="1050" b="0" dirty="0" err="1">
                <a:solidFill>
                  <a:srgbClr val="A5B5C9"/>
                </a:solidFill>
                <a:latin typeface="Aptos"/>
              </a:rPr>
              <a:t>ve</a:t>
            </a:r>
            <a:r>
              <a:rPr sz="1050" b="0" dirty="0">
                <a:solidFill>
                  <a:srgbClr val="A5B5C9"/>
                </a:solidFill>
                <a:latin typeface="Aptos"/>
              </a:rPr>
              <a:t> F1 </a:t>
            </a:r>
            <a:r>
              <a:rPr sz="1050" b="0" dirty="0" err="1">
                <a:solidFill>
                  <a:srgbClr val="A5B5C9"/>
                </a:solidFill>
                <a:latin typeface="Aptos"/>
              </a:rPr>
              <a:t>Skoru</a:t>
            </a:r>
            <a:r>
              <a:rPr sz="1050" b="0" dirty="0">
                <a:solidFill>
                  <a:srgbClr val="A5B5C9"/>
                </a:solidFill>
                <a:latin typeface="Aptos"/>
              </a:rPr>
              <a:t> </a:t>
            </a:r>
            <a:r>
              <a:rPr sz="1050" b="0" dirty="0" err="1">
                <a:solidFill>
                  <a:srgbClr val="A5B5C9"/>
                </a:solidFill>
                <a:latin typeface="Aptos"/>
              </a:rPr>
              <a:t>ile</a:t>
            </a:r>
            <a:r>
              <a:rPr sz="1050" b="0" dirty="0">
                <a:solidFill>
                  <a:srgbClr val="A5B5C9"/>
                </a:solidFill>
                <a:latin typeface="Aptos"/>
              </a:rPr>
              <a:t> </a:t>
            </a:r>
            <a:r>
              <a:rPr sz="1050" b="0" dirty="0" err="1">
                <a:solidFill>
                  <a:srgbClr val="A5B5C9"/>
                </a:solidFill>
                <a:latin typeface="Aptos"/>
              </a:rPr>
              <a:t>karşılaştırma</a:t>
            </a:r>
            <a:r>
              <a:rPr sz="1050" b="0" dirty="0">
                <a:solidFill>
                  <a:srgbClr val="A5B5C9"/>
                </a:solidFill>
                <a:latin typeface="Aptos"/>
              </a:rPr>
              <a:t> </a:t>
            </a:r>
            <a:r>
              <a:rPr sz="1050" b="0" dirty="0" err="1">
                <a:solidFill>
                  <a:srgbClr val="A5B5C9"/>
                </a:solidFill>
                <a:latin typeface="Aptos"/>
              </a:rPr>
              <a:t>yapılması</a:t>
            </a:r>
            <a:r>
              <a:rPr sz="1050" b="0" dirty="0">
                <a:solidFill>
                  <a:srgbClr val="A5B5C9"/>
                </a:solidFill>
                <a:latin typeface="Aptos"/>
              </a:rPr>
              <a:t>; </a:t>
            </a:r>
            <a:r>
              <a:rPr sz="1050" b="0" dirty="0" err="1">
                <a:solidFill>
                  <a:srgbClr val="A5B5C9"/>
                </a:solidFill>
                <a:latin typeface="Aptos"/>
              </a:rPr>
              <a:t>sonuçların</a:t>
            </a:r>
            <a:r>
              <a:rPr sz="1050" b="0" dirty="0">
                <a:solidFill>
                  <a:srgbClr val="A5B5C9"/>
                </a:solidFill>
                <a:latin typeface="Aptos"/>
              </a:rPr>
              <a:t> </a:t>
            </a:r>
            <a:r>
              <a:rPr sz="1050" b="0" dirty="0" err="1">
                <a:solidFill>
                  <a:srgbClr val="A5B5C9"/>
                </a:solidFill>
                <a:latin typeface="Aptos"/>
              </a:rPr>
              <a:t>görselleştirilmesi</a:t>
            </a:r>
            <a:r>
              <a:rPr sz="1050" b="0" dirty="0">
                <a:solidFill>
                  <a:srgbClr val="A5B5C9"/>
                </a:solidFill>
                <a:latin typeface="Aptos"/>
              </a:rPr>
              <a:t>.</a:t>
            </a:r>
          </a:p>
        </p:txBody>
      </p:sp>
      <p:sp>
        <p:nvSpPr>
          <p:cNvPr id="26" name="Rounded Rectangle 25"/>
          <p:cNvSpPr/>
          <p:nvPr/>
        </p:nvSpPr>
        <p:spPr>
          <a:xfrm>
            <a:off x="4160520" y="3977639"/>
            <a:ext cx="2971800" cy="1874519"/>
          </a:xfrm>
          <a:prstGeom prst="roundRect">
            <a:avLst/>
          </a:prstGeom>
          <a:solidFill>
            <a:srgbClr val="122239"/>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389120" y="4206240"/>
            <a:ext cx="438912" cy="438912"/>
          </a:xfrm>
          <a:prstGeom prst="ellipse">
            <a:avLst/>
          </a:prstGeom>
          <a:solidFill>
            <a:srgbClr val="6FE2B1"/>
          </a:solidFill>
          <a:ln>
            <a:solidFill>
              <a:srgbClr val="6FE2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389120" y="4238244"/>
            <a:ext cx="438912" cy="164592"/>
          </a:xfrm>
          <a:prstGeom prst="rect">
            <a:avLst/>
          </a:prstGeom>
          <a:noFill/>
        </p:spPr>
        <p:txBody>
          <a:bodyPr wrap="square" anchor="t">
            <a:spAutoFit/>
          </a:bodyPr>
          <a:lstStyle/>
          <a:p>
            <a:pPr algn="ctr"/>
            <a:r>
              <a:rPr sz="900" b="1">
                <a:solidFill>
                  <a:srgbClr val="091426"/>
                </a:solidFill>
                <a:latin typeface="Aptos"/>
              </a:rPr>
              <a:t>05</a:t>
            </a:r>
          </a:p>
        </p:txBody>
      </p:sp>
      <p:sp>
        <p:nvSpPr>
          <p:cNvPr id="29" name="TextBox 28"/>
          <p:cNvSpPr txBox="1"/>
          <p:nvPr/>
        </p:nvSpPr>
        <p:spPr>
          <a:xfrm>
            <a:off x="4937759" y="4197096"/>
            <a:ext cx="1965960" cy="347472"/>
          </a:xfrm>
          <a:prstGeom prst="rect">
            <a:avLst/>
          </a:prstGeom>
          <a:noFill/>
        </p:spPr>
        <p:txBody>
          <a:bodyPr wrap="square" anchor="t">
            <a:spAutoFit/>
          </a:bodyPr>
          <a:lstStyle/>
          <a:p>
            <a:pPr algn="l"/>
            <a:r>
              <a:rPr sz="1500" b="1">
                <a:solidFill>
                  <a:srgbClr val="F5F8FC"/>
                </a:solidFill>
                <a:latin typeface="Aptos"/>
              </a:rPr>
              <a:t>Dokümantasyon</a:t>
            </a:r>
          </a:p>
        </p:txBody>
      </p:sp>
      <p:sp>
        <p:nvSpPr>
          <p:cNvPr id="30" name="TextBox 29"/>
          <p:cNvSpPr txBox="1"/>
          <p:nvPr/>
        </p:nvSpPr>
        <p:spPr>
          <a:xfrm>
            <a:off x="4416552" y="4782312"/>
            <a:ext cx="2459736" cy="914399"/>
          </a:xfrm>
          <a:prstGeom prst="rect">
            <a:avLst/>
          </a:prstGeom>
          <a:noFill/>
        </p:spPr>
        <p:txBody>
          <a:bodyPr wrap="square" anchor="t">
            <a:spAutoFit/>
          </a:bodyPr>
          <a:lstStyle/>
          <a:p>
            <a:pPr algn="l"/>
            <a:r>
              <a:rPr sz="1050" b="0">
                <a:solidFill>
                  <a:srgbClr val="A5B5C9"/>
                </a:solidFill>
                <a:latin typeface="Aptos"/>
              </a:rPr>
              <a:t>Karşılaştırma sonuçlarının ve bulguların raporlanarak sunuma hazır hale getirilmesi.</a:t>
            </a:r>
          </a:p>
        </p:txBody>
      </p:sp>
      <p:sp>
        <p:nvSpPr>
          <p:cNvPr id="31" name="TextBox 30"/>
          <p:cNvSpPr txBox="1"/>
          <p:nvPr/>
        </p:nvSpPr>
        <p:spPr>
          <a:xfrm>
            <a:off x="594360" y="6473952"/>
            <a:ext cx="6400800" cy="182880"/>
          </a:xfrm>
          <a:prstGeom prst="rect">
            <a:avLst/>
          </a:prstGeom>
          <a:noFill/>
        </p:spPr>
        <p:txBody>
          <a:bodyPr wrap="square" anchor="t">
            <a:spAutoFit/>
          </a:bodyPr>
          <a:lstStyle/>
          <a:p>
            <a:pPr algn="l"/>
            <a:r>
              <a:rPr sz="800" b="0">
                <a:solidFill>
                  <a:srgbClr val="A5B5C9"/>
                </a:solidFill>
                <a:latin typeface="Aptos"/>
              </a:rPr>
              <a:t>Titanik Veri Analizi Projesi</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1426"/>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5303520" cy="274320"/>
          </a:xfrm>
          <a:prstGeom prst="rect">
            <a:avLst/>
          </a:prstGeom>
          <a:noFill/>
        </p:spPr>
        <p:txBody>
          <a:bodyPr wrap="square">
            <a:spAutoFit/>
          </a:bodyPr>
          <a:lstStyle/>
          <a:p>
            <a:pPr algn="l"/>
            <a:r>
              <a:rPr sz="1000" b="1">
                <a:solidFill>
                  <a:srgbClr val="46AAFF"/>
                </a:solidFill>
                <a:latin typeface="Aptos"/>
              </a:rPr>
              <a:t>04 / TAKVİM</a:t>
            </a:r>
          </a:p>
        </p:txBody>
      </p:sp>
      <p:sp>
        <p:nvSpPr>
          <p:cNvPr id="3" name="TextBox 2"/>
          <p:cNvSpPr txBox="1"/>
          <p:nvPr/>
        </p:nvSpPr>
        <p:spPr>
          <a:xfrm>
            <a:off x="594360" y="658368"/>
            <a:ext cx="10515600" cy="640080"/>
          </a:xfrm>
          <a:prstGeom prst="rect">
            <a:avLst/>
          </a:prstGeom>
          <a:noFill/>
        </p:spPr>
        <p:txBody>
          <a:bodyPr wrap="square">
            <a:spAutoFit/>
          </a:bodyPr>
          <a:lstStyle/>
          <a:p>
            <a:pPr algn="l"/>
            <a:r>
              <a:rPr sz="2800" b="1">
                <a:solidFill>
                  <a:srgbClr val="F5F8FC"/>
                </a:solidFill>
                <a:latin typeface="Aptos"/>
              </a:rPr>
              <a:t>Zaman Planı</a:t>
            </a:r>
          </a:p>
        </p:txBody>
      </p:sp>
      <p:sp>
        <p:nvSpPr>
          <p:cNvPr id="4" name="TextBox 3"/>
          <p:cNvSpPr txBox="1"/>
          <p:nvPr/>
        </p:nvSpPr>
        <p:spPr>
          <a:xfrm>
            <a:off x="11064240" y="411480"/>
            <a:ext cx="502920" cy="411480"/>
          </a:xfrm>
          <a:prstGeom prst="rect">
            <a:avLst/>
          </a:prstGeom>
          <a:noFill/>
        </p:spPr>
        <p:txBody>
          <a:bodyPr wrap="square">
            <a:spAutoFit/>
          </a:bodyPr>
          <a:lstStyle/>
          <a:p>
            <a:pPr algn="r"/>
            <a:r>
              <a:rPr sz="1200" b="1">
                <a:solidFill>
                  <a:srgbClr val="A5B5C9"/>
                </a:solidFill>
                <a:latin typeface="Aptos"/>
              </a:rPr>
              <a:t>5</a:t>
            </a:r>
          </a:p>
        </p:txBody>
      </p:sp>
      <p:sp>
        <p:nvSpPr>
          <p:cNvPr id="5" name="Rectangle 4"/>
          <p:cNvSpPr/>
          <p:nvPr/>
        </p:nvSpPr>
        <p:spPr>
          <a:xfrm>
            <a:off x="594360" y="1353312"/>
            <a:ext cx="10972800" cy="13716"/>
          </a:xfrm>
          <a:prstGeom prst="rect">
            <a:avLst/>
          </a:prstGeom>
          <a:solidFill>
            <a:srgbClr val="46AAFF"/>
          </a:solidFill>
          <a:ln>
            <a:solidFill>
              <a:srgbClr val="46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971800" y="1645920"/>
            <a:ext cx="1417320" cy="502920"/>
          </a:xfrm>
          <a:prstGeom prst="roundRect">
            <a:avLst/>
          </a:prstGeom>
          <a:solidFill>
            <a:srgbClr val="182B45"/>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971800" y="1801368"/>
            <a:ext cx="1417320" cy="182880"/>
          </a:xfrm>
          <a:prstGeom prst="rect">
            <a:avLst/>
          </a:prstGeom>
          <a:noFill/>
        </p:spPr>
        <p:txBody>
          <a:bodyPr wrap="square">
            <a:spAutoFit/>
          </a:bodyPr>
          <a:lstStyle/>
          <a:p>
            <a:pPr algn="ctr"/>
            <a:r>
              <a:rPr sz="900" b="1" dirty="0" err="1">
                <a:solidFill>
                  <a:srgbClr val="F5F8FC"/>
                </a:solidFill>
                <a:latin typeface="Aptos"/>
              </a:rPr>
              <a:t>Pazartesi</a:t>
            </a:r>
            <a:endParaRPr sz="900" b="1" dirty="0">
              <a:solidFill>
                <a:srgbClr val="F5F8FC"/>
              </a:solidFill>
              <a:latin typeface="Aptos"/>
            </a:endParaRPr>
          </a:p>
        </p:txBody>
      </p:sp>
      <p:sp>
        <p:nvSpPr>
          <p:cNvPr id="8" name="Rounded Rectangle 7"/>
          <p:cNvSpPr/>
          <p:nvPr/>
        </p:nvSpPr>
        <p:spPr>
          <a:xfrm>
            <a:off x="4636008" y="1645920"/>
            <a:ext cx="1417320" cy="502920"/>
          </a:xfrm>
          <a:prstGeom prst="roundRect">
            <a:avLst/>
          </a:prstGeom>
          <a:solidFill>
            <a:srgbClr val="182B45"/>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36008" y="1801368"/>
            <a:ext cx="1417320" cy="182880"/>
          </a:xfrm>
          <a:prstGeom prst="rect">
            <a:avLst/>
          </a:prstGeom>
          <a:noFill/>
        </p:spPr>
        <p:txBody>
          <a:bodyPr wrap="square">
            <a:spAutoFit/>
          </a:bodyPr>
          <a:lstStyle/>
          <a:p>
            <a:pPr algn="ctr"/>
            <a:r>
              <a:rPr sz="900" b="1">
                <a:solidFill>
                  <a:srgbClr val="F5F8FC"/>
                </a:solidFill>
                <a:latin typeface="Aptos"/>
              </a:rPr>
              <a:t>Salı</a:t>
            </a:r>
          </a:p>
        </p:txBody>
      </p:sp>
      <p:sp>
        <p:nvSpPr>
          <p:cNvPr id="10" name="Rounded Rectangle 9"/>
          <p:cNvSpPr/>
          <p:nvPr/>
        </p:nvSpPr>
        <p:spPr>
          <a:xfrm>
            <a:off x="6300216" y="1645920"/>
            <a:ext cx="1417320" cy="502920"/>
          </a:xfrm>
          <a:prstGeom prst="roundRect">
            <a:avLst/>
          </a:prstGeom>
          <a:solidFill>
            <a:srgbClr val="182B45"/>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0216" y="1801368"/>
            <a:ext cx="1417320" cy="182880"/>
          </a:xfrm>
          <a:prstGeom prst="rect">
            <a:avLst/>
          </a:prstGeom>
          <a:noFill/>
        </p:spPr>
        <p:txBody>
          <a:bodyPr wrap="square">
            <a:spAutoFit/>
          </a:bodyPr>
          <a:lstStyle/>
          <a:p>
            <a:pPr algn="ctr"/>
            <a:r>
              <a:rPr sz="900" b="1">
                <a:solidFill>
                  <a:srgbClr val="F5F8FC"/>
                </a:solidFill>
                <a:latin typeface="Aptos"/>
              </a:rPr>
              <a:t>Çarşamba</a:t>
            </a:r>
          </a:p>
        </p:txBody>
      </p:sp>
      <p:sp>
        <p:nvSpPr>
          <p:cNvPr id="12" name="Rounded Rectangle 11"/>
          <p:cNvSpPr/>
          <p:nvPr/>
        </p:nvSpPr>
        <p:spPr>
          <a:xfrm>
            <a:off x="7964424" y="1645920"/>
            <a:ext cx="1417320" cy="502920"/>
          </a:xfrm>
          <a:prstGeom prst="roundRect">
            <a:avLst/>
          </a:prstGeom>
          <a:solidFill>
            <a:srgbClr val="182B45"/>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964424" y="1801368"/>
            <a:ext cx="1417320" cy="182880"/>
          </a:xfrm>
          <a:prstGeom prst="rect">
            <a:avLst/>
          </a:prstGeom>
          <a:noFill/>
        </p:spPr>
        <p:txBody>
          <a:bodyPr wrap="square">
            <a:spAutoFit/>
          </a:bodyPr>
          <a:lstStyle/>
          <a:p>
            <a:pPr algn="ctr"/>
            <a:r>
              <a:rPr sz="900" b="1">
                <a:solidFill>
                  <a:srgbClr val="F5F8FC"/>
                </a:solidFill>
                <a:latin typeface="Aptos"/>
              </a:rPr>
              <a:t>Perşembe</a:t>
            </a:r>
          </a:p>
        </p:txBody>
      </p:sp>
      <p:sp>
        <p:nvSpPr>
          <p:cNvPr id="14" name="Rounded Rectangle 13"/>
          <p:cNvSpPr/>
          <p:nvPr/>
        </p:nvSpPr>
        <p:spPr>
          <a:xfrm>
            <a:off x="9628632" y="1645920"/>
            <a:ext cx="1417320" cy="502920"/>
          </a:xfrm>
          <a:prstGeom prst="roundRect">
            <a:avLst/>
          </a:prstGeom>
          <a:solidFill>
            <a:srgbClr val="182B45"/>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28632" y="1801368"/>
            <a:ext cx="1417320" cy="182880"/>
          </a:xfrm>
          <a:prstGeom prst="rect">
            <a:avLst/>
          </a:prstGeom>
          <a:noFill/>
        </p:spPr>
        <p:txBody>
          <a:bodyPr wrap="square">
            <a:spAutoFit/>
          </a:bodyPr>
          <a:lstStyle/>
          <a:p>
            <a:pPr algn="ctr"/>
            <a:r>
              <a:rPr sz="900" b="1">
                <a:solidFill>
                  <a:srgbClr val="F5F8FC"/>
                </a:solidFill>
                <a:latin typeface="Aptos"/>
              </a:rPr>
              <a:t>Cuma</a:t>
            </a:r>
          </a:p>
        </p:txBody>
      </p:sp>
      <p:sp>
        <p:nvSpPr>
          <p:cNvPr id="16" name="TextBox 15"/>
          <p:cNvSpPr txBox="1"/>
          <p:nvPr/>
        </p:nvSpPr>
        <p:spPr>
          <a:xfrm>
            <a:off x="685800" y="2423160"/>
            <a:ext cx="2148840" cy="347472"/>
          </a:xfrm>
          <a:prstGeom prst="rect">
            <a:avLst/>
          </a:prstGeom>
          <a:noFill/>
        </p:spPr>
        <p:txBody>
          <a:bodyPr wrap="square">
            <a:spAutoFit/>
          </a:bodyPr>
          <a:lstStyle/>
          <a:p>
            <a:pPr algn="l"/>
            <a:r>
              <a:rPr sz="1050" b="1">
                <a:solidFill>
                  <a:srgbClr val="F5F8FC"/>
                </a:solidFill>
                <a:latin typeface="Aptos"/>
              </a:rPr>
              <a:t>1. Adım: Analiz &amp; İşi Anlama</a:t>
            </a:r>
          </a:p>
        </p:txBody>
      </p:sp>
      <p:sp>
        <p:nvSpPr>
          <p:cNvPr id="17" name="Rounded Rectangle 16"/>
          <p:cNvSpPr/>
          <p:nvPr/>
        </p:nvSpPr>
        <p:spPr>
          <a:xfrm>
            <a:off x="2971800" y="2386584"/>
            <a:ext cx="1417320" cy="411480"/>
          </a:xfrm>
          <a:prstGeom prst="roundRect">
            <a:avLst/>
          </a:prstGeom>
          <a:solidFill>
            <a:srgbClr val="122239"/>
          </a:solidFill>
          <a:ln>
            <a:solidFill>
              <a:srgbClr val="122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2971799" y="2386584"/>
            <a:ext cx="2533261" cy="411480"/>
          </a:xfrm>
          <a:prstGeom prst="roundRect">
            <a:avLst/>
          </a:prstGeom>
          <a:solidFill>
            <a:srgbClr val="46AAFF"/>
          </a:solidFill>
          <a:ln>
            <a:solidFill>
              <a:srgbClr val="46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800" y="3108960"/>
            <a:ext cx="2148840" cy="347472"/>
          </a:xfrm>
          <a:prstGeom prst="rect">
            <a:avLst/>
          </a:prstGeom>
          <a:noFill/>
        </p:spPr>
        <p:txBody>
          <a:bodyPr wrap="square">
            <a:spAutoFit/>
          </a:bodyPr>
          <a:lstStyle/>
          <a:p>
            <a:pPr algn="l"/>
            <a:r>
              <a:rPr sz="1050" b="1">
                <a:solidFill>
                  <a:srgbClr val="F5F8FC"/>
                </a:solidFill>
                <a:latin typeface="Aptos"/>
              </a:rPr>
              <a:t>2. Adım: Veri Temizleme</a:t>
            </a:r>
          </a:p>
        </p:txBody>
      </p:sp>
      <p:sp>
        <p:nvSpPr>
          <p:cNvPr id="26" name="Rounded Rectangle 25"/>
          <p:cNvSpPr/>
          <p:nvPr/>
        </p:nvSpPr>
        <p:spPr>
          <a:xfrm>
            <a:off x="4636008" y="3072384"/>
            <a:ext cx="1417320" cy="411480"/>
          </a:xfrm>
          <a:prstGeom prst="roundRect">
            <a:avLst/>
          </a:prstGeom>
          <a:solidFill>
            <a:srgbClr val="122239"/>
          </a:solidFill>
          <a:ln>
            <a:solidFill>
              <a:srgbClr val="122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4636008" y="3072384"/>
            <a:ext cx="2359152" cy="411480"/>
          </a:xfrm>
          <a:prstGeom prst="roundRect">
            <a:avLst/>
          </a:prstGeom>
          <a:solidFill>
            <a:srgbClr val="46AAFF"/>
          </a:solidFill>
          <a:ln>
            <a:solidFill>
              <a:srgbClr val="46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85800" y="3794760"/>
            <a:ext cx="2148840" cy="347472"/>
          </a:xfrm>
          <a:prstGeom prst="rect">
            <a:avLst/>
          </a:prstGeom>
          <a:noFill/>
        </p:spPr>
        <p:txBody>
          <a:bodyPr wrap="square">
            <a:spAutoFit/>
          </a:bodyPr>
          <a:lstStyle/>
          <a:p>
            <a:pPr algn="l"/>
            <a:r>
              <a:rPr sz="1050" b="1">
                <a:solidFill>
                  <a:srgbClr val="F5F8FC"/>
                </a:solidFill>
                <a:latin typeface="Aptos"/>
              </a:rPr>
              <a:t>3. Adım: Modelin Eğitimi</a:t>
            </a:r>
          </a:p>
        </p:txBody>
      </p:sp>
      <p:sp>
        <p:nvSpPr>
          <p:cNvPr id="35" name="Rounded Rectangle 34"/>
          <p:cNvSpPr/>
          <p:nvPr/>
        </p:nvSpPr>
        <p:spPr>
          <a:xfrm>
            <a:off x="6300216" y="3758184"/>
            <a:ext cx="1417320" cy="411480"/>
          </a:xfrm>
          <a:prstGeom prst="roundRect">
            <a:avLst/>
          </a:prstGeom>
          <a:solidFill>
            <a:srgbClr val="122239"/>
          </a:solidFill>
          <a:ln>
            <a:solidFill>
              <a:srgbClr val="122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6300216" y="3758184"/>
            <a:ext cx="1957376" cy="411480"/>
          </a:xfrm>
          <a:prstGeom prst="roundRect">
            <a:avLst/>
          </a:prstGeom>
          <a:solidFill>
            <a:srgbClr val="46AAFF"/>
          </a:solidFill>
          <a:ln>
            <a:solidFill>
              <a:srgbClr val="46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85800" y="4480560"/>
            <a:ext cx="2148840" cy="347472"/>
          </a:xfrm>
          <a:prstGeom prst="rect">
            <a:avLst/>
          </a:prstGeom>
          <a:noFill/>
        </p:spPr>
        <p:txBody>
          <a:bodyPr wrap="square">
            <a:spAutoFit/>
          </a:bodyPr>
          <a:lstStyle/>
          <a:p>
            <a:pPr algn="l"/>
            <a:r>
              <a:rPr sz="1050" b="1">
                <a:solidFill>
                  <a:srgbClr val="F5F8FC"/>
                </a:solidFill>
                <a:latin typeface="Aptos"/>
              </a:rPr>
              <a:t>4. Adım: Model Karşılaştırma ve Değerlendirme</a:t>
            </a:r>
          </a:p>
        </p:txBody>
      </p:sp>
      <p:sp>
        <p:nvSpPr>
          <p:cNvPr id="43" name="Rounded Rectangle 42"/>
          <p:cNvSpPr/>
          <p:nvPr/>
        </p:nvSpPr>
        <p:spPr>
          <a:xfrm>
            <a:off x="6300216" y="4443984"/>
            <a:ext cx="1417320" cy="411480"/>
          </a:xfrm>
          <a:prstGeom prst="roundRect">
            <a:avLst/>
          </a:prstGeom>
          <a:solidFill>
            <a:srgbClr val="122239"/>
          </a:solidFill>
          <a:ln>
            <a:solidFill>
              <a:srgbClr val="122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7964424" y="4443984"/>
            <a:ext cx="1417320" cy="411480"/>
          </a:xfrm>
          <a:prstGeom prst="roundRect">
            <a:avLst/>
          </a:prstGeom>
          <a:solidFill>
            <a:srgbClr val="122239"/>
          </a:solidFill>
          <a:ln>
            <a:solidFill>
              <a:srgbClr val="122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6300216" y="4443984"/>
            <a:ext cx="3081528" cy="411480"/>
          </a:xfrm>
          <a:prstGeom prst="roundRect">
            <a:avLst/>
          </a:prstGeom>
          <a:solidFill>
            <a:srgbClr val="46AAFF"/>
          </a:solidFill>
          <a:ln>
            <a:solidFill>
              <a:srgbClr val="46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85800" y="5166360"/>
            <a:ext cx="2148840" cy="347472"/>
          </a:xfrm>
          <a:prstGeom prst="rect">
            <a:avLst/>
          </a:prstGeom>
          <a:noFill/>
        </p:spPr>
        <p:txBody>
          <a:bodyPr wrap="square">
            <a:spAutoFit/>
          </a:bodyPr>
          <a:lstStyle/>
          <a:p>
            <a:pPr algn="l"/>
            <a:r>
              <a:rPr sz="1050" b="1">
                <a:solidFill>
                  <a:srgbClr val="F5F8FC"/>
                </a:solidFill>
                <a:latin typeface="Aptos"/>
              </a:rPr>
              <a:t>5. Adım: Dokümantasyon</a:t>
            </a:r>
          </a:p>
        </p:txBody>
      </p:sp>
      <p:sp>
        <p:nvSpPr>
          <p:cNvPr id="53" name="Rounded Rectangle 52"/>
          <p:cNvSpPr/>
          <p:nvPr/>
        </p:nvSpPr>
        <p:spPr>
          <a:xfrm>
            <a:off x="9628632" y="5129784"/>
            <a:ext cx="1417320" cy="411480"/>
          </a:xfrm>
          <a:prstGeom prst="roundRect">
            <a:avLst/>
          </a:prstGeom>
          <a:solidFill>
            <a:srgbClr val="122239"/>
          </a:solidFill>
          <a:ln>
            <a:solidFill>
              <a:srgbClr val="122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9628632" y="5129784"/>
            <a:ext cx="1417320" cy="411480"/>
          </a:xfrm>
          <a:prstGeom prst="roundRect">
            <a:avLst/>
          </a:prstGeom>
          <a:solidFill>
            <a:srgbClr val="46AAFF"/>
          </a:solidFill>
          <a:ln>
            <a:solidFill>
              <a:srgbClr val="46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94360" y="6473952"/>
            <a:ext cx="6400800" cy="182880"/>
          </a:xfrm>
          <a:prstGeom prst="rect">
            <a:avLst/>
          </a:prstGeom>
          <a:noFill/>
        </p:spPr>
        <p:txBody>
          <a:bodyPr wrap="square">
            <a:spAutoFit/>
          </a:bodyPr>
          <a:lstStyle/>
          <a:p>
            <a:pPr algn="l"/>
            <a:r>
              <a:rPr sz="800" b="0">
                <a:solidFill>
                  <a:srgbClr val="A5B5C9"/>
                </a:solidFill>
                <a:latin typeface="Aptos"/>
              </a:rPr>
              <a:t>Titanik Veri Analizi Projesi</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91426"/>
        </a:solidFill>
        <a:effectLst/>
      </p:bgPr>
    </p:bg>
    <p:spTree>
      <p:nvGrpSpPr>
        <p:cNvPr id="1" name=""/>
        <p:cNvGrpSpPr/>
        <p:nvPr/>
      </p:nvGrpSpPr>
      <p:grpSpPr>
        <a:xfrm>
          <a:off x="0" y="0"/>
          <a:ext cx="0" cy="0"/>
          <a:chOff x="0" y="0"/>
          <a:chExt cx="0" cy="0"/>
        </a:xfrm>
      </p:grpSpPr>
      <p:sp>
        <p:nvSpPr>
          <p:cNvPr id="101" name="TextBox Eyebrow"/>
          <p:cNvSpPr txBox="1"/>
          <p:nvPr/>
        </p:nvSpPr>
        <p:spPr>
          <a:xfrm>
            <a:off x="594360" y="347472"/>
            <a:ext cx="5303520" cy="274320"/>
          </a:xfrm>
          <a:prstGeom prst="rect">
            <a:avLst/>
          </a:prstGeom>
          <a:noFill/>
        </p:spPr>
        <p:txBody>
          <a:bodyPr wrap="square" anchor="t">
            <a:noAutofit/>
          </a:bodyPr>
          <a:lstStyle/>
          <a:p>
            <a:pPr algn="l"/>
            <a:r>
              <a:rPr sz="1000" b="1" dirty="0">
                <a:solidFill>
                  <a:srgbClr val="46AAFF"/>
                </a:solidFill>
                <a:latin typeface="Aptos"/>
              </a:rPr>
              <a:t>05 / SONUÇLAR</a:t>
            </a:r>
          </a:p>
        </p:txBody>
      </p:sp>
      <p:sp>
        <p:nvSpPr>
          <p:cNvPr id="102" name="TextBox Title"/>
          <p:cNvSpPr txBox="1"/>
          <p:nvPr/>
        </p:nvSpPr>
        <p:spPr>
          <a:xfrm>
            <a:off x="594360" y="658368"/>
            <a:ext cx="10515600" cy="640080"/>
          </a:xfrm>
          <a:prstGeom prst="rect">
            <a:avLst/>
          </a:prstGeom>
          <a:noFill/>
        </p:spPr>
        <p:txBody>
          <a:bodyPr wrap="square" anchor="t">
            <a:noAutofit/>
          </a:bodyPr>
          <a:lstStyle/>
          <a:p>
            <a:pPr algn="l"/>
            <a:r>
              <a:rPr sz="2800" b="1" dirty="0">
                <a:solidFill>
                  <a:srgbClr val="F5F8FC"/>
                </a:solidFill>
                <a:latin typeface="Aptos"/>
              </a:rPr>
              <a:t>Model Performans Karşılaştırması</a:t>
            </a:r>
          </a:p>
        </p:txBody>
      </p:sp>
      <p:sp>
        <p:nvSpPr>
          <p:cNvPr id="103" name="TextBox PageNum"/>
          <p:cNvSpPr txBox="1"/>
          <p:nvPr/>
        </p:nvSpPr>
        <p:spPr>
          <a:xfrm>
            <a:off x="11064240" y="411480"/>
            <a:ext cx="502920" cy="411480"/>
          </a:xfrm>
          <a:prstGeom prst="rect">
            <a:avLst/>
          </a:prstGeom>
          <a:noFill/>
        </p:spPr>
        <p:txBody>
          <a:bodyPr wrap="square" anchor="t">
            <a:noAutofit/>
          </a:bodyPr>
          <a:lstStyle/>
          <a:p>
            <a:pPr algn="r"/>
            <a:r>
              <a:rPr sz="1200" b="1" dirty="0">
                <a:solidFill>
                  <a:srgbClr val="A5B5C9"/>
                </a:solidFill>
                <a:latin typeface="Aptos"/>
              </a:rPr>
              <a:t>6</a:t>
            </a:r>
          </a:p>
        </p:txBody>
      </p:sp>
      <p:sp>
        <p:nvSpPr>
          <p:cNvPr id="104" name="Divider"/>
          <p:cNvSpPr/>
          <p:nvPr/>
        </p:nvSpPr>
        <p:spPr>
          <a:xfrm>
            <a:off x="594360" y="1353312"/>
            <a:ext cx="10972800" cy="13716"/>
          </a:xfrm>
          <a:prstGeom prst="rect">
            <a:avLst/>
          </a:prstGeom>
          <a:solidFill>
            <a:srgbClr val="46AAFF"/>
          </a:solidFill>
          <a:ln>
            <a:solidFill>
              <a:srgbClr val="46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ableCard"/>
          <p:cNvSpPr/>
          <p:nvPr/>
        </p:nvSpPr>
        <p:spPr>
          <a:xfrm>
            <a:off x="685800" y="1737360"/>
            <a:ext cx="10820400" cy="3028716"/>
          </a:xfrm>
          <a:prstGeom prst="roundRect">
            <a:avLst/>
          </a:prstGeom>
          <a:solidFill>
            <a:srgbClr val="122239"/>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HeaderModel"/>
          <p:cNvSpPr txBox="1"/>
          <p:nvPr/>
        </p:nvSpPr>
        <p:spPr>
          <a:xfrm>
            <a:off x="914400" y="1874520"/>
            <a:ext cx="2500000" cy="320000"/>
          </a:xfrm>
          <a:prstGeom prst="rect">
            <a:avLst/>
          </a:prstGeom>
          <a:noFill/>
        </p:spPr>
        <p:txBody>
          <a:bodyPr wrap="square" anchor="t">
            <a:noAutofit/>
          </a:bodyPr>
          <a:lstStyle/>
          <a:p>
            <a:pPr algn="l"/>
            <a:r>
              <a:rPr sz="1200" b="1" dirty="0">
                <a:solidFill>
                  <a:srgbClr val="F5F8FC"/>
                </a:solidFill>
                <a:latin typeface="Aptos"/>
              </a:rPr>
              <a:t>Model Adı</a:t>
            </a:r>
          </a:p>
        </p:txBody>
      </p:sp>
      <p:sp>
        <p:nvSpPr>
          <p:cNvPr id="107" name="HeaderAcc"/>
          <p:cNvSpPr txBox="1"/>
          <p:nvPr/>
        </p:nvSpPr>
        <p:spPr>
          <a:xfrm>
            <a:off x="3414400" y="1874520"/>
            <a:ext cx="2000000" cy="320000"/>
          </a:xfrm>
          <a:prstGeom prst="rect">
            <a:avLst/>
          </a:prstGeom>
          <a:noFill/>
        </p:spPr>
        <p:txBody>
          <a:bodyPr wrap="square" anchor="t">
            <a:noAutofit/>
          </a:bodyPr>
          <a:lstStyle/>
          <a:p>
            <a:pPr algn="l"/>
            <a:r>
              <a:rPr sz="1200" b="1" dirty="0">
                <a:solidFill>
                  <a:srgbClr val="F5F8FC"/>
                </a:solidFill>
                <a:latin typeface="Aptos"/>
              </a:rPr>
              <a:t>Accuracy (Doğruluk)</a:t>
            </a:r>
          </a:p>
        </p:txBody>
      </p:sp>
      <p:sp>
        <p:nvSpPr>
          <p:cNvPr id="108" name="HeaderChar"/>
          <p:cNvSpPr txBox="1"/>
          <p:nvPr/>
        </p:nvSpPr>
        <p:spPr>
          <a:xfrm>
            <a:off x="5414400" y="1874520"/>
            <a:ext cx="5863200" cy="320000"/>
          </a:xfrm>
          <a:prstGeom prst="rect">
            <a:avLst/>
          </a:prstGeom>
          <a:noFill/>
        </p:spPr>
        <p:txBody>
          <a:bodyPr wrap="square" anchor="t">
            <a:noAutofit/>
          </a:bodyPr>
          <a:lstStyle/>
          <a:p>
            <a:pPr algn="l"/>
            <a:r>
              <a:rPr sz="1200" b="1" dirty="0">
                <a:solidFill>
                  <a:srgbClr val="F5F8FC"/>
                </a:solidFill>
                <a:latin typeface="Aptos"/>
              </a:rPr>
              <a:t>Modelin Karakteristiği &amp; Başarı Analizi</a:t>
            </a:r>
          </a:p>
        </p:txBody>
      </p:sp>
      <p:sp>
        <p:nvSpPr>
          <p:cNvPr id="109" name="HeaderLine"/>
          <p:cNvSpPr/>
          <p:nvPr/>
        </p:nvSpPr>
        <p:spPr>
          <a:xfrm>
            <a:off x="914400" y="2349520"/>
            <a:ext cx="10363200" cy="13716"/>
          </a:xfrm>
          <a:prstGeom prst="rect">
            <a:avLst/>
          </a:prstGeom>
          <a:solidFill>
            <a:srgbClr val="182B45"/>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owModel0"/>
          <p:cNvSpPr txBox="1"/>
          <p:nvPr/>
        </p:nvSpPr>
        <p:spPr>
          <a:xfrm>
            <a:off x="914400" y="2454676"/>
            <a:ext cx="2500000" cy="400000"/>
          </a:xfrm>
          <a:prstGeom prst="rect">
            <a:avLst/>
          </a:prstGeom>
          <a:noFill/>
        </p:spPr>
        <p:txBody>
          <a:bodyPr wrap="square" anchor="t">
            <a:noAutofit/>
          </a:bodyPr>
          <a:lstStyle/>
          <a:p>
            <a:pPr algn="l"/>
            <a:endParaRPr sz="1100" b="1" dirty="0">
              <a:solidFill>
                <a:srgbClr val="F5F8FC"/>
              </a:solidFill>
              <a:latin typeface="Aptos"/>
            </a:endParaRPr>
          </a:p>
        </p:txBody>
      </p:sp>
      <p:sp>
        <p:nvSpPr>
          <p:cNvPr id="111" name="RowAcc0"/>
          <p:cNvSpPr txBox="1"/>
          <p:nvPr/>
        </p:nvSpPr>
        <p:spPr>
          <a:xfrm>
            <a:off x="3414400" y="2454676"/>
            <a:ext cx="2000000" cy="400000"/>
          </a:xfrm>
          <a:prstGeom prst="rect">
            <a:avLst/>
          </a:prstGeom>
          <a:noFill/>
        </p:spPr>
        <p:txBody>
          <a:bodyPr wrap="square" anchor="t">
            <a:noAutofit/>
          </a:bodyPr>
          <a:lstStyle/>
          <a:p>
            <a:pPr algn="l"/>
            <a:endParaRPr sz="1100" b="0" dirty="0">
              <a:solidFill>
                <a:srgbClr val="A5B5C9"/>
              </a:solidFill>
              <a:latin typeface="Aptos"/>
            </a:endParaRPr>
          </a:p>
        </p:txBody>
      </p:sp>
      <p:sp>
        <p:nvSpPr>
          <p:cNvPr id="112" name="RowDesc0"/>
          <p:cNvSpPr txBox="1"/>
          <p:nvPr/>
        </p:nvSpPr>
        <p:spPr>
          <a:xfrm>
            <a:off x="5414400" y="2454676"/>
            <a:ext cx="5863200" cy="500000"/>
          </a:xfrm>
          <a:prstGeom prst="rect">
            <a:avLst/>
          </a:prstGeom>
          <a:noFill/>
        </p:spPr>
        <p:txBody>
          <a:bodyPr wrap="square" anchor="t">
            <a:noAutofit/>
          </a:bodyPr>
          <a:lstStyle/>
          <a:p>
            <a:pPr algn="l"/>
            <a:endParaRPr sz="1000" b="0" dirty="0">
              <a:solidFill>
                <a:srgbClr val="A5B5C9"/>
              </a:solidFill>
              <a:latin typeface="Aptos"/>
            </a:endParaRPr>
          </a:p>
        </p:txBody>
      </p:sp>
      <p:sp>
        <p:nvSpPr>
          <p:cNvPr id="113" name="RowLine0"/>
          <p:cNvSpPr/>
          <p:nvPr/>
        </p:nvSpPr>
        <p:spPr>
          <a:xfrm>
            <a:off x="914400" y="2952756"/>
            <a:ext cx="10363200" cy="13716"/>
          </a:xfrm>
          <a:prstGeom prst="rect">
            <a:avLst/>
          </a:prstGeom>
          <a:solidFill>
            <a:srgbClr val="182B45"/>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owModel1"/>
          <p:cNvSpPr txBox="1"/>
          <p:nvPr/>
        </p:nvSpPr>
        <p:spPr>
          <a:xfrm>
            <a:off x="883920" y="2501796"/>
            <a:ext cx="2500000" cy="400000"/>
          </a:xfrm>
          <a:prstGeom prst="rect">
            <a:avLst/>
          </a:prstGeom>
          <a:noFill/>
        </p:spPr>
        <p:txBody>
          <a:bodyPr wrap="square" anchor="t">
            <a:noAutofit/>
          </a:bodyPr>
          <a:lstStyle/>
          <a:p>
            <a:pPr algn="l"/>
            <a:r>
              <a:rPr sz="1100" b="1" dirty="0">
                <a:solidFill>
                  <a:srgbClr val="F5F8FC"/>
                </a:solidFill>
                <a:latin typeface="Aptos"/>
              </a:rPr>
              <a:t>Decision Tree</a:t>
            </a:r>
          </a:p>
        </p:txBody>
      </p:sp>
      <p:sp>
        <p:nvSpPr>
          <p:cNvPr id="115" name="RowAcc1"/>
          <p:cNvSpPr txBox="1"/>
          <p:nvPr/>
        </p:nvSpPr>
        <p:spPr>
          <a:xfrm>
            <a:off x="3383920" y="2501796"/>
            <a:ext cx="2000000" cy="400000"/>
          </a:xfrm>
          <a:prstGeom prst="rect">
            <a:avLst/>
          </a:prstGeom>
          <a:noFill/>
        </p:spPr>
        <p:txBody>
          <a:bodyPr wrap="square" anchor="t">
            <a:noAutofit/>
          </a:bodyPr>
          <a:lstStyle/>
          <a:p>
            <a:pPr algn="l"/>
            <a:r>
              <a:rPr sz="1100" b="0" dirty="0">
                <a:solidFill>
                  <a:srgbClr val="A5B5C9"/>
                </a:solidFill>
                <a:latin typeface="Aptos"/>
              </a:rPr>
              <a:t>74.63%</a:t>
            </a:r>
          </a:p>
        </p:txBody>
      </p:sp>
      <p:sp>
        <p:nvSpPr>
          <p:cNvPr id="116" name="RowDesc1"/>
          <p:cNvSpPr txBox="1"/>
          <p:nvPr/>
        </p:nvSpPr>
        <p:spPr>
          <a:xfrm>
            <a:off x="5383920" y="2501796"/>
            <a:ext cx="5863200" cy="500000"/>
          </a:xfrm>
          <a:prstGeom prst="rect">
            <a:avLst/>
          </a:prstGeom>
          <a:noFill/>
        </p:spPr>
        <p:txBody>
          <a:bodyPr wrap="square" anchor="t">
            <a:noAutofit/>
          </a:bodyPr>
          <a:lstStyle/>
          <a:p>
            <a:pPr algn="l"/>
            <a:r>
              <a:rPr sz="1000" b="0" dirty="0">
                <a:solidFill>
                  <a:srgbClr val="A5B5C9"/>
                </a:solidFill>
                <a:latin typeface="Aptos"/>
              </a:rPr>
              <a:t>Tek ağaç yapısı; aşırı öğrenme (overfitting) eğilimi gösterdi.</a:t>
            </a:r>
          </a:p>
        </p:txBody>
      </p:sp>
      <p:sp>
        <p:nvSpPr>
          <p:cNvPr id="117" name="RowLine1"/>
          <p:cNvSpPr/>
          <p:nvPr/>
        </p:nvSpPr>
        <p:spPr>
          <a:xfrm>
            <a:off x="914400" y="3572756"/>
            <a:ext cx="10363200" cy="13716"/>
          </a:xfrm>
          <a:prstGeom prst="rect">
            <a:avLst/>
          </a:prstGeom>
          <a:solidFill>
            <a:srgbClr val="182B45"/>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owModel2"/>
          <p:cNvSpPr txBox="1"/>
          <p:nvPr/>
        </p:nvSpPr>
        <p:spPr>
          <a:xfrm>
            <a:off x="883920" y="3121796"/>
            <a:ext cx="2500000" cy="400000"/>
          </a:xfrm>
          <a:prstGeom prst="rect">
            <a:avLst/>
          </a:prstGeom>
          <a:noFill/>
        </p:spPr>
        <p:txBody>
          <a:bodyPr wrap="square" anchor="t">
            <a:noAutofit/>
          </a:bodyPr>
          <a:lstStyle/>
          <a:p>
            <a:pPr algn="l"/>
            <a:r>
              <a:rPr sz="1100" b="1" dirty="0">
                <a:solidFill>
                  <a:srgbClr val="F5F8FC"/>
                </a:solidFill>
                <a:latin typeface="Aptos"/>
              </a:rPr>
              <a:t>Logistic Regression</a:t>
            </a:r>
          </a:p>
        </p:txBody>
      </p:sp>
      <p:sp>
        <p:nvSpPr>
          <p:cNvPr id="119" name="RowAcc2"/>
          <p:cNvSpPr txBox="1"/>
          <p:nvPr/>
        </p:nvSpPr>
        <p:spPr>
          <a:xfrm>
            <a:off x="3383920" y="3121796"/>
            <a:ext cx="2000000" cy="400000"/>
          </a:xfrm>
          <a:prstGeom prst="rect">
            <a:avLst/>
          </a:prstGeom>
          <a:noFill/>
        </p:spPr>
        <p:txBody>
          <a:bodyPr wrap="square" anchor="t">
            <a:noAutofit/>
          </a:bodyPr>
          <a:lstStyle/>
          <a:p>
            <a:pPr algn="l"/>
            <a:r>
              <a:rPr sz="1100" b="0" dirty="0">
                <a:solidFill>
                  <a:srgbClr val="A5B5C9"/>
                </a:solidFill>
                <a:latin typeface="Aptos"/>
              </a:rPr>
              <a:t>79.85%</a:t>
            </a:r>
          </a:p>
        </p:txBody>
      </p:sp>
      <p:sp>
        <p:nvSpPr>
          <p:cNvPr id="120" name="RowDesc2"/>
          <p:cNvSpPr txBox="1"/>
          <p:nvPr/>
        </p:nvSpPr>
        <p:spPr>
          <a:xfrm>
            <a:off x="5383920" y="3121796"/>
            <a:ext cx="5863200" cy="500000"/>
          </a:xfrm>
          <a:prstGeom prst="rect">
            <a:avLst/>
          </a:prstGeom>
          <a:noFill/>
        </p:spPr>
        <p:txBody>
          <a:bodyPr wrap="square" anchor="t">
            <a:noAutofit/>
          </a:bodyPr>
          <a:lstStyle/>
          <a:p>
            <a:pPr algn="l"/>
            <a:r>
              <a:rPr sz="1000" b="0" dirty="0">
                <a:solidFill>
                  <a:srgbClr val="A5B5C9"/>
                </a:solidFill>
                <a:latin typeface="Aptos"/>
              </a:rPr>
              <a:t>Doğrusal ilişkilerde oldukça kararlı ve başarılı sonuç verdi.</a:t>
            </a:r>
          </a:p>
        </p:txBody>
      </p:sp>
      <p:sp>
        <p:nvSpPr>
          <p:cNvPr id="121" name="RowLine2"/>
          <p:cNvSpPr/>
          <p:nvPr/>
        </p:nvSpPr>
        <p:spPr>
          <a:xfrm>
            <a:off x="914400" y="4192756"/>
            <a:ext cx="10363200" cy="13716"/>
          </a:xfrm>
          <a:prstGeom prst="rect">
            <a:avLst/>
          </a:prstGeom>
          <a:solidFill>
            <a:srgbClr val="182B45"/>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owModel3"/>
          <p:cNvSpPr txBox="1"/>
          <p:nvPr/>
        </p:nvSpPr>
        <p:spPr>
          <a:xfrm>
            <a:off x="883920" y="3741796"/>
            <a:ext cx="2500000" cy="400000"/>
          </a:xfrm>
          <a:prstGeom prst="rect">
            <a:avLst/>
          </a:prstGeom>
          <a:noFill/>
        </p:spPr>
        <p:txBody>
          <a:bodyPr wrap="square" anchor="t">
            <a:noAutofit/>
          </a:bodyPr>
          <a:lstStyle/>
          <a:p>
            <a:pPr algn="l"/>
            <a:r>
              <a:rPr sz="1100" b="1" dirty="0">
                <a:solidFill>
                  <a:srgbClr val="6FE2B1"/>
                </a:solidFill>
                <a:latin typeface="Aptos"/>
              </a:rPr>
              <a:t>Random Forest (Şampiyon)</a:t>
            </a:r>
          </a:p>
        </p:txBody>
      </p:sp>
      <p:sp>
        <p:nvSpPr>
          <p:cNvPr id="123" name="RowAcc3"/>
          <p:cNvSpPr txBox="1"/>
          <p:nvPr/>
        </p:nvSpPr>
        <p:spPr>
          <a:xfrm>
            <a:off x="3383920" y="3741796"/>
            <a:ext cx="2000000" cy="400000"/>
          </a:xfrm>
          <a:prstGeom prst="rect">
            <a:avLst/>
          </a:prstGeom>
          <a:noFill/>
        </p:spPr>
        <p:txBody>
          <a:bodyPr wrap="square" anchor="t">
            <a:noAutofit/>
          </a:bodyPr>
          <a:lstStyle/>
          <a:p>
            <a:pPr algn="l"/>
            <a:r>
              <a:rPr sz="1100" b="1" dirty="0">
                <a:solidFill>
                  <a:srgbClr val="6FE2B1"/>
                </a:solidFill>
                <a:latin typeface="Aptos"/>
              </a:rPr>
              <a:t>80.22%</a:t>
            </a:r>
          </a:p>
        </p:txBody>
      </p:sp>
      <p:sp>
        <p:nvSpPr>
          <p:cNvPr id="124" name="RowDesc3"/>
          <p:cNvSpPr txBox="1"/>
          <p:nvPr/>
        </p:nvSpPr>
        <p:spPr>
          <a:xfrm>
            <a:off x="5383920" y="3741796"/>
            <a:ext cx="5863200" cy="500000"/>
          </a:xfrm>
          <a:prstGeom prst="rect">
            <a:avLst/>
          </a:prstGeom>
          <a:noFill/>
        </p:spPr>
        <p:txBody>
          <a:bodyPr wrap="square" anchor="t">
            <a:noAutofit/>
          </a:bodyPr>
          <a:lstStyle/>
          <a:p>
            <a:pPr algn="l"/>
            <a:r>
              <a:rPr sz="1000" b="0" dirty="0">
                <a:solidFill>
                  <a:srgbClr val="A5B5C9"/>
                </a:solidFill>
                <a:latin typeface="Aptos"/>
              </a:rPr>
              <a:t>100 ağacın ortak oylamasıyla en yüksek kararlılık ve başarı.</a:t>
            </a:r>
          </a:p>
        </p:txBody>
      </p:sp>
      <p:sp>
        <p:nvSpPr>
          <p:cNvPr id="126" name="CalloutText"/>
          <p:cNvSpPr txBox="1"/>
          <p:nvPr/>
        </p:nvSpPr>
        <p:spPr>
          <a:xfrm>
            <a:off x="994643" y="4384294"/>
            <a:ext cx="9966960" cy="182880"/>
          </a:xfrm>
          <a:prstGeom prst="rect">
            <a:avLst/>
          </a:prstGeom>
          <a:noFill/>
        </p:spPr>
        <p:txBody>
          <a:bodyPr wrap="square" anchor="t">
            <a:noAutofit/>
          </a:bodyPr>
          <a:lstStyle/>
          <a:p>
            <a:pPr algn="ctr"/>
            <a:r>
              <a:rPr sz="1000" b="1" dirty="0">
                <a:solidFill>
                  <a:srgbClr val="FFB547"/>
                </a:solidFill>
                <a:latin typeface="Aptos"/>
              </a:rPr>
              <a:t>Zirve Noktası: </a:t>
            </a:r>
            <a:r>
              <a:rPr sz="1000" b="0" dirty="0">
                <a:solidFill>
                  <a:srgbClr val="FFB547"/>
                </a:solidFill>
                <a:latin typeface="Aptos"/>
              </a:rPr>
              <a:t>Random Forest, topluluk öğrenmesi gücüyle tekli ağaçların hatalarını törpüleyerek en üst skora ulaştı.</a:t>
            </a:r>
          </a:p>
        </p:txBody>
      </p:sp>
      <p:sp>
        <p:nvSpPr>
          <p:cNvPr id="127" name="Footer"/>
          <p:cNvSpPr txBox="1"/>
          <p:nvPr/>
        </p:nvSpPr>
        <p:spPr>
          <a:xfrm>
            <a:off x="594360" y="6473952"/>
            <a:ext cx="6400800" cy="182880"/>
          </a:xfrm>
          <a:prstGeom prst="rect">
            <a:avLst/>
          </a:prstGeom>
          <a:noFill/>
        </p:spPr>
        <p:txBody>
          <a:bodyPr wrap="square" anchor="t">
            <a:noAutofit/>
          </a:bodyPr>
          <a:lstStyle/>
          <a:p>
            <a:pPr algn="l"/>
            <a:r>
              <a:rPr sz="800" b="0" dirty="0">
                <a:solidFill>
                  <a:srgbClr val="A5B5C9"/>
                </a:solidFill>
                <a:latin typeface="Aptos"/>
              </a:rPr>
              <a:t>Titanik Veri Analizi Projesi</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1426"/>
        </a:solidFill>
        <a:effectLst/>
      </p:bgPr>
    </p:bg>
    <p:spTree>
      <p:nvGrpSpPr>
        <p:cNvPr id="1" name=""/>
        <p:cNvGrpSpPr/>
        <p:nvPr/>
      </p:nvGrpSpPr>
      <p:grpSpPr>
        <a:xfrm>
          <a:off x="0" y="0"/>
          <a:ext cx="0" cy="0"/>
          <a:chOff x="0" y="0"/>
          <a:chExt cx="0" cy="0"/>
        </a:xfrm>
      </p:grpSpPr>
      <p:sp>
        <p:nvSpPr>
          <p:cNvPr id="101" name="Eyebrow"/>
          <p:cNvSpPr txBox="1"/>
          <p:nvPr/>
        </p:nvSpPr>
        <p:spPr>
          <a:xfrm>
            <a:off x="594360" y="347472"/>
            <a:ext cx="5303520" cy="274320"/>
          </a:xfrm>
          <a:prstGeom prst="rect">
            <a:avLst/>
          </a:prstGeom>
          <a:noFill/>
        </p:spPr>
        <p:txBody>
          <a:bodyPr wrap="square" anchor="t">
            <a:noAutofit/>
          </a:bodyPr>
          <a:lstStyle/>
          <a:p>
            <a:pPr algn="l"/>
            <a:r>
              <a:rPr sz="1000" b="1" dirty="0">
                <a:solidFill>
                  <a:srgbClr val="46AAFF"/>
                </a:solidFill>
                <a:latin typeface="Aptos"/>
              </a:rPr>
              <a:t>05 / SONUÇLAR</a:t>
            </a:r>
          </a:p>
        </p:txBody>
      </p:sp>
      <p:sp>
        <p:nvSpPr>
          <p:cNvPr id="102" name="Title"/>
          <p:cNvSpPr txBox="1"/>
          <p:nvPr/>
        </p:nvSpPr>
        <p:spPr>
          <a:xfrm>
            <a:off x="594360" y="658368"/>
            <a:ext cx="10515600" cy="640080"/>
          </a:xfrm>
          <a:prstGeom prst="rect">
            <a:avLst/>
          </a:prstGeom>
          <a:noFill/>
        </p:spPr>
        <p:txBody>
          <a:bodyPr wrap="square" anchor="t">
            <a:noAutofit/>
          </a:bodyPr>
          <a:lstStyle/>
          <a:p>
            <a:pPr algn="l"/>
            <a:r>
              <a:rPr sz="2800" b="1" dirty="0">
                <a:solidFill>
                  <a:srgbClr val="F5F8FC"/>
                </a:solidFill>
                <a:latin typeface="Aptos"/>
              </a:rPr>
              <a:t>Karışıklık Matrisi Karşılaştırması</a:t>
            </a:r>
          </a:p>
        </p:txBody>
      </p:sp>
      <p:sp>
        <p:nvSpPr>
          <p:cNvPr id="103" name="PageNum"/>
          <p:cNvSpPr txBox="1"/>
          <p:nvPr/>
        </p:nvSpPr>
        <p:spPr>
          <a:xfrm>
            <a:off x="11064240" y="411480"/>
            <a:ext cx="502920" cy="411480"/>
          </a:xfrm>
          <a:prstGeom prst="rect">
            <a:avLst/>
          </a:prstGeom>
          <a:noFill/>
        </p:spPr>
        <p:txBody>
          <a:bodyPr wrap="square" anchor="t">
            <a:noAutofit/>
          </a:bodyPr>
          <a:lstStyle/>
          <a:p>
            <a:pPr algn="r"/>
            <a:r>
              <a:rPr sz="1200" b="1" dirty="0">
                <a:solidFill>
                  <a:srgbClr val="A5B5C9"/>
                </a:solidFill>
                <a:latin typeface="Aptos"/>
              </a:rPr>
              <a:t>7</a:t>
            </a:r>
          </a:p>
        </p:txBody>
      </p:sp>
      <p:sp>
        <p:nvSpPr>
          <p:cNvPr id="104" name="Divider"/>
          <p:cNvSpPr/>
          <p:nvPr/>
        </p:nvSpPr>
        <p:spPr>
          <a:xfrm>
            <a:off x="594360" y="1353312"/>
            <a:ext cx="10972800" cy="13716"/>
          </a:xfrm>
          <a:prstGeom prst="rect">
            <a:avLst/>
          </a:prstGeom>
          <a:solidFill>
            <a:srgbClr val="46AAFF"/>
          </a:solidFill>
          <a:ln>
            <a:solidFill>
              <a:srgbClr val="46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Card_Lojistik Regresyon"/>
          <p:cNvSpPr/>
          <p:nvPr/>
        </p:nvSpPr>
        <p:spPr>
          <a:xfrm>
            <a:off x="685800" y="1737360"/>
            <a:ext cx="3400000" cy="4069080"/>
          </a:xfrm>
          <a:prstGeom prst="roundRect">
            <a:avLst/>
          </a:prstGeom>
          <a:solidFill>
            <a:srgbClr val="122239"/>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itle_Lojistik Regresyon"/>
          <p:cNvSpPr txBox="1"/>
          <p:nvPr/>
        </p:nvSpPr>
        <p:spPr>
          <a:xfrm>
            <a:off x="905800" y="1947360"/>
            <a:ext cx="2960000" cy="340000"/>
          </a:xfrm>
          <a:prstGeom prst="rect">
            <a:avLst/>
          </a:prstGeom>
          <a:noFill/>
        </p:spPr>
        <p:txBody>
          <a:bodyPr wrap="square" anchor="t">
            <a:noAutofit/>
          </a:bodyPr>
          <a:lstStyle/>
          <a:p>
            <a:pPr algn="l"/>
            <a:r>
              <a:rPr sz="1300" b="1" dirty="0">
                <a:solidFill>
                  <a:srgbClr val="46AAFF"/>
                </a:solidFill>
                <a:latin typeface="Aptos"/>
              </a:rPr>
              <a:t>Lojistik Regresyon</a:t>
            </a:r>
          </a:p>
        </p:txBody>
      </p:sp>
      <p:sp>
        <p:nvSpPr>
          <p:cNvPr id="107" name="Acc_Lojistik Regresyon"/>
          <p:cNvSpPr txBox="1"/>
          <p:nvPr/>
        </p:nvSpPr>
        <p:spPr>
          <a:xfrm>
            <a:off x="905800" y="2277360"/>
            <a:ext cx="2960000" cy="260000"/>
          </a:xfrm>
          <a:prstGeom prst="rect">
            <a:avLst/>
          </a:prstGeom>
          <a:noFill/>
        </p:spPr>
        <p:txBody>
          <a:bodyPr wrap="square" anchor="t">
            <a:noAutofit/>
          </a:bodyPr>
          <a:lstStyle/>
          <a:p>
            <a:pPr algn="l"/>
            <a:r>
              <a:rPr sz="1000" b="1" dirty="0">
                <a:solidFill>
                  <a:srgbClr val="A5B5C9"/>
                </a:solidFill>
                <a:latin typeface="Aptos"/>
              </a:rPr>
              <a:t>Accuracy: </a:t>
            </a:r>
            <a:r>
              <a:rPr sz="1000" b="1" dirty="0">
                <a:solidFill>
                  <a:srgbClr val="F5F8FC"/>
                </a:solidFill>
                <a:latin typeface="Aptos"/>
              </a:rPr>
              <a:t>79.85%</a:t>
            </a:r>
          </a:p>
        </p:txBody>
      </p:sp>
      <p:sp>
        <p:nvSpPr>
          <p:cNvPr id="108" name="ColLbl0_Lojistik Regresyon"/>
          <p:cNvSpPr txBox="1"/>
          <p:nvPr/>
        </p:nvSpPr>
        <p:spPr>
          <a:xfrm>
            <a:off x="1885800" y="2517360"/>
            <a:ext cx="660000" cy="300000"/>
          </a:xfrm>
          <a:prstGeom prst="rect">
            <a:avLst/>
          </a:prstGeom>
          <a:noFill/>
        </p:spPr>
        <p:txBody>
          <a:bodyPr wrap="square" anchor="t">
            <a:noAutofit/>
          </a:bodyPr>
          <a:lstStyle/>
          <a:p>
            <a:pPr algn="ctr"/>
            <a:r>
              <a:rPr sz="1000" b="1" dirty="0">
                <a:solidFill>
                  <a:srgbClr val="A5B5C9"/>
                </a:solidFill>
                <a:latin typeface="Aptos"/>
              </a:rPr>
              <a:t>0</a:t>
            </a:r>
          </a:p>
        </p:txBody>
      </p:sp>
      <p:sp>
        <p:nvSpPr>
          <p:cNvPr id="109" name="ColLbl1_Lojistik Regresyon"/>
          <p:cNvSpPr txBox="1"/>
          <p:nvPr/>
        </p:nvSpPr>
        <p:spPr>
          <a:xfrm>
            <a:off x="2545800" y="2517360"/>
            <a:ext cx="660000" cy="300000"/>
          </a:xfrm>
          <a:prstGeom prst="rect">
            <a:avLst/>
          </a:prstGeom>
          <a:noFill/>
        </p:spPr>
        <p:txBody>
          <a:bodyPr wrap="square" anchor="t">
            <a:noAutofit/>
          </a:bodyPr>
          <a:lstStyle/>
          <a:p>
            <a:pPr algn="ctr"/>
            <a:r>
              <a:rPr sz="1000" b="1" dirty="0">
                <a:solidFill>
                  <a:srgbClr val="A5B5C9"/>
                </a:solidFill>
                <a:latin typeface="Aptos"/>
              </a:rPr>
              <a:t>1</a:t>
            </a:r>
          </a:p>
        </p:txBody>
      </p:sp>
      <p:sp>
        <p:nvSpPr>
          <p:cNvPr id="110" name="RowLbl0_Lojistik Regresyon"/>
          <p:cNvSpPr txBox="1"/>
          <p:nvPr/>
        </p:nvSpPr>
        <p:spPr>
          <a:xfrm>
            <a:off x="1565800" y="2817360"/>
            <a:ext cx="320000" cy="660000"/>
          </a:xfrm>
          <a:prstGeom prst="rect">
            <a:avLst/>
          </a:prstGeom>
          <a:noFill/>
        </p:spPr>
        <p:txBody>
          <a:bodyPr wrap="square" anchor="ctr">
            <a:noAutofit/>
          </a:bodyPr>
          <a:lstStyle/>
          <a:p>
            <a:pPr algn="ctr"/>
            <a:r>
              <a:rPr sz="1000" b="1" dirty="0">
                <a:solidFill>
                  <a:srgbClr val="A5B5C9"/>
                </a:solidFill>
                <a:latin typeface="Aptos"/>
              </a:rPr>
              <a:t>0</a:t>
            </a:r>
          </a:p>
        </p:txBody>
      </p:sp>
      <p:sp>
        <p:nvSpPr>
          <p:cNvPr id="111" name="RowLbl1_Lojistik Regresyon"/>
          <p:cNvSpPr txBox="1"/>
          <p:nvPr/>
        </p:nvSpPr>
        <p:spPr>
          <a:xfrm>
            <a:off x="1565800" y="3477360"/>
            <a:ext cx="320000" cy="660000"/>
          </a:xfrm>
          <a:prstGeom prst="rect">
            <a:avLst/>
          </a:prstGeom>
          <a:noFill/>
        </p:spPr>
        <p:txBody>
          <a:bodyPr wrap="square" anchor="ctr">
            <a:noAutofit/>
          </a:bodyPr>
          <a:lstStyle/>
          <a:p>
            <a:pPr algn="ctr"/>
            <a:r>
              <a:rPr sz="1000" b="1" dirty="0">
                <a:solidFill>
                  <a:srgbClr val="A5B5C9"/>
                </a:solidFill>
                <a:latin typeface="Aptos"/>
              </a:rPr>
              <a:t>1</a:t>
            </a:r>
          </a:p>
        </p:txBody>
      </p:sp>
      <p:sp>
        <p:nvSpPr>
          <p:cNvPr id="112" name="TN_Lojistik Regresyon"/>
          <p:cNvSpPr/>
          <p:nvPr/>
        </p:nvSpPr>
        <p:spPr>
          <a:xfrm>
            <a:off x="1885800" y="2817360"/>
            <a:ext cx="660000" cy="660000"/>
          </a:xfrm>
          <a:prstGeom prst="rect">
            <a:avLst/>
          </a:prstGeom>
          <a:solidFill>
            <a:srgbClr val="46A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Nt_Lojistik Regresyon"/>
          <p:cNvSpPr txBox="1"/>
          <p:nvPr/>
        </p:nvSpPr>
        <p:spPr>
          <a:xfrm>
            <a:off x="1885800" y="2817360"/>
            <a:ext cx="660000" cy="660000"/>
          </a:xfrm>
          <a:prstGeom prst="rect">
            <a:avLst/>
          </a:prstGeom>
          <a:noFill/>
        </p:spPr>
        <p:txBody>
          <a:bodyPr wrap="square" anchor="ctr">
            <a:noAutofit/>
          </a:bodyPr>
          <a:lstStyle/>
          <a:p>
            <a:pPr algn="ctr"/>
            <a:r>
              <a:rPr sz="1300" b="1" dirty="0">
                <a:solidFill>
                  <a:srgbClr val="091426"/>
                </a:solidFill>
                <a:latin typeface="Aptos"/>
              </a:rPr>
              <a:t>136</a:t>
            </a:r>
          </a:p>
        </p:txBody>
      </p:sp>
      <p:sp>
        <p:nvSpPr>
          <p:cNvPr id="114" name="FP_Lojistik Regresyon"/>
          <p:cNvSpPr/>
          <p:nvPr/>
        </p:nvSpPr>
        <p:spPr>
          <a:xfrm>
            <a:off x="2545800" y="2817360"/>
            <a:ext cx="660000" cy="660000"/>
          </a:xfrm>
          <a:prstGeom prst="rect">
            <a:avLst/>
          </a:prstGeom>
          <a:solidFill>
            <a:srgbClr val="18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FPt_Lojistik Regresyon"/>
          <p:cNvSpPr txBox="1"/>
          <p:nvPr/>
        </p:nvSpPr>
        <p:spPr>
          <a:xfrm>
            <a:off x="2545800" y="2817360"/>
            <a:ext cx="660000" cy="660000"/>
          </a:xfrm>
          <a:prstGeom prst="rect">
            <a:avLst/>
          </a:prstGeom>
          <a:noFill/>
        </p:spPr>
        <p:txBody>
          <a:bodyPr wrap="square" anchor="ctr">
            <a:noAutofit/>
          </a:bodyPr>
          <a:lstStyle/>
          <a:p>
            <a:pPr algn="ctr"/>
            <a:r>
              <a:rPr sz="1300" b="0" dirty="0">
                <a:solidFill>
                  <a:srgbClr val="A5B5C9"/>
                </a:solidFill>
                <a:latin typeface="Aptos"/>
              </a:rPr>
              <a:t>21</a:t>
            </a:r>
          </a:p>
        </p:txBody>
      </p:sp>
      <p:sp>
        <p:nvSpPr>
          <p:cNvPr id="116" name="FN_Lojistik Regresyon"/>
          <p:cNvSpPr/>
          <p:nvPr/>
        </p:nvSpPr>
        <p:spPr>
          <a:xfrm>
            <a:off x="1885800" y="3477360"/>
            <a:ext cx="660000" cy="660000"/>
          </a:xfrm>
          <a:prstGeom prst="rect">
            <a:avLst/>
          </a:prstGeom>
          <a:solidFill>
            <a:srgbClr val="18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FNt_Lojistik Regresyon"/>
          <p:cNvSpPr txBox="1"/>
          <p:nvPr/>
        </p:nvSpPr>
        <p:spPr>
          <a:xfrm>
            <a:off x="1885800" y="3477360"/>
            <a:ext cx="660000" cy="660000"/>
          </a:xfrm>
          <a:prstGeom prst="rect">
            <a:avLst/>
          </a:prstGeom>
          <a:noFill/>
        </p:spPr>
        <p:txBody>
          <a:bodyPr wrap="square" anchor="ctr">
            <a:noAutofit/>
          </a:bodyPr>
          <a:lstStyle/>
          <a:p>
            <a:pPr algn="ctr"/>
            <a:r>
              <a:rPr sz="1300" b="0" dirty="0">
                <a:solidFill>
                  <a:srgbClr val="A5B5C9"/>
                </a:solidFill>
                <a:latin typeface="Aptos"/>
              </a:rPr>
              <a:t>33</a:t>
            </a:r>
          </a:p>
        </p:txBody>
      </p:sp>
      <p:sp>
        <p:nvSpPr>
          <p:cNvPr id="118" name="TP_Lojistik Regresyon"/>
          <p:cNvSpPr/>
          <p:nvPr/>
        </p:nvSpPr>
        <p:spPr>
          <a:xfrm>
            <a:off x="2545800" y="3477360"/>
            <a:ext cx="660000" cy="660000"/>
          </a:xfrm>
          <a:prstGeom prst="rect">
            <a:avLst/>
          </a:prstGeom>
          <a:solidFill>
            <a:srgbClr val="46A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Pt_Lojistik Regresyon"/>
          <p:cNvSpPr txBox="1"/>
          <p:nvPr/>
        </p:nvSpPr>
        <p:spPr>
          <a:xfrm>
            <a:off x="2545800" y="3477360"/>
            <a:ext cx="660000" cy="660000"/>
          </a:xfrm>
          <a:prstGeom prst="rect">
            <a:avLst/>
          </a:prstGeom>
          <a:noFill/>
        </p:spPr>
        <p:txBody>
          <a:bodyPr wrap="square" anchor="ctr">
            <a:noAutofit/>
          </a:bodyPr>
          <a:lstStyle/>
          <a:p>
            <a:pPr algn="ctr"/>
            <a:r>
              <a:rPr sz="1300" b="1" dirty="0">
                <a:solidFill>
                  <a:srgbClr val="091426"/>
                </a:solidFill>
                <a:latin typeface="Aptos"/>
              </a:rPr>
              <a:t>78</a:t>
            </a:r>
          </a:p>
        </p:txBody>
      </p:sp>
      <p:sp>
        <p:nvSpPr>
          <p:cNvPr id="120" name="AxisX_Lojistik Regresyon"/>
          <p:cNvSpPr txBox="1"/>
          <p:nvPr/>
        </p:nvSpPr>
        <p:spPr>
          <a:xfrm>
            <a:off x="905800" y="4227360"/>
            <a:ext cx="2960000" cy="220000"/>
          </a:xfrm>
          <a:prstGeom prst="rect">
            <a:avLst/>
          </a:prstGeom>
          <a:noFill/>
        </p:spPr>
        <p:txBody>
          <a:bodyPr wrap="square" anchor="t">
            <a:noAutofit/>
          </a:bodyPr>
          <a:lstStyle/>
          <a:p>
            <a:pPr algn="ctr"/>
            <a:r>
              <a:rPr sz="850" b="0" dirty="0">
                <a:solidFill>
                  <a:srgbClr val="A5B5C9"/>
                </a:solidFill>
                <a:latin typeface="Aptos"/>
              </a:rPr>
              <a:t>Modelin Tahmini (0 / 1)</a:t>
            </a:r>
          </a:p>
        </p:txBody>
      </p:sp>
      <p:sp>
        <p:nvSpPr>
          <p:cNvPr id="121" name="AxisY_Lojistik Regresyon"/>
          <p:cNvSpPr txBox="1"/>
          <p:nvPr/>
        </p:nvSpPr>
        <p:spPr>
          <a:xfrm rot="16200000">
            <a:off x="-14400" y="3465507"/>
            <a:ext cx="2960000" cy="220000"/>
          </a:xfrm>
          <a:prstGeom prst="rect">
            <a:avLst/>
          </a:prstGeom>
          <a:noFill/>
        </p:spPr>
        <p:txBody>
          <a:bodyPr wrap="square" anchor="t">
            <a:noAutofit/>
          </a:bodyPr>
          <a:lstStyle/>
          <a:p>
            <a:pPr algn="ctr"/>
            <a:r>
              <a:rPr sz="850" b="0" dirty="0" err="1" smtClean="0">
                <a:solidFill>
                  <a:srgbClr val="A5B5C9"/>
                </a:solidFill>
                <a:latin typeface="Aptos"/>
              </a:rPr>
              <a:t>Gerçek</a:t>
            </a:r>
            <a:r>
              <a:rPr sz="850" b="0" dirty="0" smtClean="0">
                <a:solidFill>
                  <a:srgbClr val="A5B5C9"/>
                </a:solidFill>
                <a:latin typeface="Aptos"/>
              </a:rPr>
              <a:t> </a:t>
            </a:r>
            <a:r>
              <a:rPr sz="850" b="0" dirty="0">
                <a:solidFill>
                  <a:srgbClr val="A5B5C9"/>
                </a:solidFill>
                <a:latin typeface="Aptos"/>
              </a:rPr>
              <a:t>Değer</a:t>
            </a:r>
          </a:p>
        </p:txBody>
      </p:sp>
      <p:sp>
        <p:nvSpPr>
          <p:cNvPr id="122" name="Card_Karar Ağacı (Decision Tree)"/>
          <p:cNvSpPr/>
          <p:nvPr/>
        </p:nvSpPr>
        <p:spPr>
          <a:xfrm>
            <a:off x="4396000" y="1737360"/>
            <a:ext cx="3400000" cy="4069080"/>
          </a:xfrm>
          <a:prstGeom prst="roundRect">
            <a:avLst/>
          </a:prstGeom>
          <a:solidFill>
            <a:srgbClr val="122239"/>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itle_Karar Ağacı (Decision Tree)"/>
          <p:cNvSpPr txBox="1"/>
          <p:nvPr/>
        </p:nvSpPr>
        <p:spPr>
          <a:xfrm>
            <a:off x="4616000" y="1947360"/>
            <a:ext cx="2960000" cy="340000"/>
          </a:xfrm>
          <a:prstGeom prst="rect">
            <a:avLst/>
          </a:prstGeom>
          <a:noFill/>
        </p:spPr>
        <p:txBody>
          <a:bodyPr wrap="square" anchor="t">
            <a:noAutofit/>
          </a:bodyPr>
          <a:lstStyle/>
          <a:p>
            <a:pPr algn="l"/>
            <a:r>
              <a:rPr sz="1300" b="1" dirty="0">
                <a:solidFill>
                  <a:srgbClr val="6FE2B1"/>
                </a:solidFill>
                <a:latin typeface="Aptos"/>
              </a:rPr>
              <a:t>Karar Ağacı (Decision Tree)</a:t>
            </a:r>
          </a:p>
        </p:txBody>
      </p:sp>
      <p:sp>
        <p:nvSpPr>
          <p:cNvPr id="124" name="Acc_Karar Ağacı (Decision Tree)"/>
          <p:cNvSpPr txBox="1"/>
          <p:nvPr/>
        </p:nvSpPr>
        <p:spPr>
          <a:xfrm>
            <a:off x="4616000" y="2277360"/>
            <a:ext cx="2960000" cy="260000"/>
          </a:xfrm>
          <a:prstGeom prst="rect">
            <a:avLst/>
          </a:prstGeom>
          <a:noFill/>
        </p:spPr>
        <p:txBody>
          <a:bodyPr wrap="square" anchor="t">
            <a:noAutofit/>
          </a:bodyPr>
          <a:lstStyle/>
          <a:p>
            <a:pPr algn="l"/>
            <a:r>
              <a:rPr sz="1000" b="1" dirty="0">
                <a:solidFill>
                  <a:srgbClr val="A5B5C9"/>
                </a:solidFill>
                <a:latin typeface="Aptos"/>
              </a:rPr>
              <a:t>Accuracy: </a:t>
            </a:r>
            <a:r>
              <a:rPr sz="1000" b="1" dirty="0">
                <a:solidFill>
                  <a:srgbClr val="F5F8FC"/>
                </a:solidFill>
                <a:latin typeface="Aptos"/>
              </a:rPr>
              <a:t>74.63%</a:t>
            </a:r>
          </a:p>
        </p:txBody>
      </p:sp>
      <p:sp>
        <p:nvSpPr>
          <p:cNvPr id="125" name="ColLbl0_Karar Ağacı (Decision Tree)"/>
          <p:cNvSpPr txBox="1"/>
          <p:nvPr/>
        </p:nvSpPr>
        <p:spPr>
          <a:xfrm>
            <a:off x="5596000" y="2517360"/>
            <a:ext cx="660000" cy="300000"/>
          </a:xfrm>
          <a:prstGeom prst="rect">
            <a:avLst/>
          </a:prstGeom>
          <a:noFill/>
        </p:spPr>
        <p:txBody>
          <a:bodyPr wrap="square" anchor="t">
            <a:noAutofit/>
          </a:bodyPr>
          <a:lstStyle/>
          <a:p>
            <a:pPr algn="ctr"/>
            <a:r>
              <a:rPr sz="1000" b="1" dirty="0">
                <a:solidFill>
                  <a:srgbClr val="A5B5C9"/>
                </a:solidFill>
                <a:latin typeface="Aptos"/>
              </a:rPr>
              <a:t>0</a:t>
            </a:r>
          </a:p>
        </p:txBody>
      </p:sp>
      <p:sp>
        <p:nvSpPr>
          <p:cNvPr id="126" name="ColLbl1_Karar Ağacı (Decision Tree)"/>
          <p:cNvSpPr txBox="1"/>
          <p:nvPr/>
        </p:nvSpPr>
        <p:spPr>
          <a:xfrm>
            <a:off x="6256000" y="2517360"/>
            <a:ext cx="660000" cy="300000"/>
          </a:xfrm>
          <a:prstGeom prst="rect">
            <a:avLst/>
          </a:prstGeom>
          <a:noFill/>
        </p:spPr>
        <p:txBody>
          <a:bodyPr wrap="square" anchor="t">
            <a:noAutofit/>
          </a:bodyPr>
          <a:lstStyle/>
          <a:p>
            <a:pPr algn="ctr"/>
            <a:r>
              <a:rPr sz="1000" b="1" dirty="0">
                <a:solidFill>
                  <a:srgbClr val="A5B5C9"/>
                </a:solidFill>
                <a:latin typeface="Aptos"/>
              </a:rPr>
              <a:t>1</a:t>
            </a:r>
          </a:p>
        </p:txBody>
      </p:sp>
      <p:sp>
        <p:nvSpPr>
          <p:cNvPr id="127" name="RowLbl0_Karar Ağacı (Decision Tree)"/>
          <p:cNvSpPr txBox="1"/>
          <p:nvPr/>
        </p:nvSpPr>
        <p:spPr>
          <a:xfrm>
            <a:off x="5276000" y="2817360"/>
            <a:ext cx="320000" cy="660000"/>
          </a:xfrm>
          <a:prstGeom prst="rect">
            <a:avLst/>
          </a:prstGeom>
          <a:noFill/>
        </p:spPr>
        <p:txBody>
          <a:bodyPr wrap="square" anchor="ctr">
            <a:noAutofit/>
          </a:bodyPr>
          <a:lstStyle/>
          <a:p>
            <a:pPr algn="ctr"/>
            <a:r>
              <a:rPr sz="1000" b="1" dirty="0">
                <a:solidFill>
                  <a:srgbClr val="A5B5C9"/>
                </a:solidFill>
                <a:latin typeface="Aptos"/>
              </a:rPr>
              <a:t>0</a:t>
            </a:r>
          </a:p>
        </p:txBody>
      </p:sp>
      <p:sp>
        <p:nvSpPr>
          <p:cNvPr id="128" name="RowLbl1_Karar Ağacı (Decision Tree)"/>
          <p:cNvSpPr txBox="1"/>
          <p:nvPr/>
        </p:nvSpPr>
        <p:spPr>
          <a:xfrm>
            <a:off x="5276000" y="3477360"/>
            <a:ext cx="320000" cy="660000"/>
          </a:xfrm>
          <a:prstGeom prst="rect">
            <a:avLst/>
          </a:prstGeom>
          <a:noFill/>
        </p:spPr>
        <p:txBody>
          <a:bodyPr wrap="square" anchor="ctr">
            <a:noAutofit/>
          </a:bodyPr>
          <a:lstStyle/>
          <a:p>
            <a:pPr algn="ctr"/>
            <a:r>
              <a:rPr sz="1000" b="1" dirty="0">
                <a:solidFill>
                  <a:srgbClr val="A5B5C9"/>
                </a:solidFill>
                <a:latin typeface="Aptos"/>
              </a:rPr>
              <a:t>1</a:t>
            </a:r>
          </a:p>
        </p:txBody>
      </p:sp>
      <p:sp>
        <p:nvSpPr>
          <p:cNvPr id="129" name="TN_Karar Ağacı (Decision Tree)"/>
          <p:cNvSpPr/>
          <p:nvPr/>
        </p:nvSpPr>
        <p:spPr>
          <a:xfrm>
            <a:off x="5596000" y="2817360"/>
            <a:ext cx="660000" cy="660000"/>
          </a:xfrm>
          <a:prstGeom prst="rect">
            <a:avLst/>
          </a:prstGeom>
          <a:solidFill>
            <a:srgbClr val="6FE2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Nt_Karar Ağacı (Decision Tree)"/>
          <p:cNvSpPr txBox="1"/>
          <p:nvPr/>
        </p:nvSpPr>
        <p:spPr>
          <a:xfrm>
            <a:off x="5596000" y="2817360"/>
            <a:ext cx="660000" cy="660000"/>
          </a:xfrm>
          <a:prstGeom prst="rect">
            <a:avLst/>
          </a:prstGeom>
          <a:noFill/>
        </p:spPr>
        <p:txBody>
          <a:bodyPr wrap="square" anchor="ctr">
            <a:noAutofit/>
          </a:bodyPr>
          <a:lstStyle/>
          <a:p>
            <a:pPr algn="ctr"/>
            <a:r>
              <a:rPr sz="1300" b="1" dirty="0">
                <a:solidFill>
                  <a:srgbClr val="091426"/>
                </a:solidFill>
                <a:latin typeface="Aptos"/>
              </a:rPr>
              <a:t>126</a:t>
            </a:r>
          </a:p>
        </p:txBody>
      </p:sp>
      <p:sp>
        <p:nvSpPr>
          <p:cNvPr id="131" name="FP_Karar Ağacı (Decision Tree)"/>
          <p:cNvSpPr/>
          <p:nvPr/>
        </p:nvSpPr>
        <p:spPr>
          <a:xfrm>
            <a:off x="6256000" y="2817360"/>
            <a:ext cx="660000" cy="660000"/>
          </a:xfrm>
          <a:prstGeom prst="rect">
            <a:avLst/>
          </a:prstGeom>
          <a:solidFill>
            <a:srgbClr val="18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FPt_Karar Ağacı (Decision Tree)"/>
          <p:cNvSpPr txBox="1"/>
          <p:nvPr/>
        </p:nvSpPr>
        <p:spPr>
          <a:xfrm>
            <a:off x="6256000" y="2817360"/>
            <a:ext cx="660000" cy="660000"/>
          </a:xfrm>
          <a:prstGeom prst="rect">
            <a:avLst/>
          </a:prstGeom>
          <a:noFill/>
        </p:spPr>
        <p:txBody>
          <a:bodyPr wrap="square" anchor="ctr">
            <a:noAutofit/>
          </a:bodyPr>
          <a:lstStyle/>
          <a:p>
            <a:pPr algn="ctr"/>
            <a:r>
              <a:rPr sz="1300" b="0" dirty="0">
                <a:solidFill>
                  <a:srgbClr val="A5B5C9"/>
                </a:solidFill>
                <a:latin typeface="Aptos"/>
              </a:rPr>
              <a:t>31</a:t>
            </a:r>
          </a:p>
        </p:txBody>
      </p:sp>
      <p:sp>
        <p:nvSpPr>
          <p:cNvPr id="133" name="FN_Karar Ağacı (Decision Tree)"/>
          <p:cNvSpPr/>
          <p:nvPr/>
        </p:nvSpPr>
        <p:spPr>
          <a:xfrm>
            <a:off x="5596000" y="3477360"/>
            <a:ext cx="660000" cy="660000"/>
          </a:xfrm>
          <a:prstGeom prst="rect">
            <a:avLst/>
          </a:prstGeom>
          <a:solidFill>
            <a:srgbClr val="18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FNt_Karar Ağacı (Decision Tree)"/>
          <p:cNvSpPr txBox="1"/>
          <p:nvPr/>
        </p:nvSpPr>
        <p:spPr>
          <a:xfrm>
            <a:off x="5596000" y="3477360"/>
            <a:ext cx="660000" cy="660000"/>
          </a:xfrm>
          <a:prstGeom prst="rect">
            <a:avLst/>
          </a:prstGeom>
          <a:noFill/>
        </p:spPr>
        <p:txBody>
          <a:bodyPr wrap="square" anchor="ctr">
            <a:noAutofit/>
          </a:bodyPr>
          <a:lstStyle/>
          <a:p>
            <a:pPr algn="ctr"/>
            <a:r>
              <a:rPr sz="1300" b="0" dirty="0">
                <a:solidFill>
                  <a:srgbClr val="A5B5C9"/>
                </a:solidFill>
                <a:latin typeface="Aptos"/>
              </a:rPr>
              <a:t>37</a:t>
            </a:r>
          </a:p>
        </p:txBody>
      </p:sp>
      <p:sp>
        <p:nvSpPr>
          <p:cNvPr id="135" name="TP_Karar Ağacı (Decision Tree)"/>
          <p:cNvSpPr/>
          <p:nvPr/>
        </p:nvSpPr>
        <p:spPr>
          <a:xfrm>
            <a:off x="6256000" y="3477360"/>
            <a:ext cx="660000" cy="660000"/>
          </a:xfrm>
          <a:prstGeom prst="rect">
            <a:avLst/>
          </a:prstGeom>
          <a:solidFill>
            <a:srgbClr val="6FE2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Pt_Karar Ağacı (Decision Tree)"/>
          <p:cNvSpPr txBox="1"/>
          <p:nvPr/>
        </p:nvSpPr>
        <p:spPr>
          <a:xfrm>
            <a:off x="6256000" y="3477360"/>
            <a:ext cx="660000" cy="660000"/>
          </a:xfrm>
          <a:prstGeom prst="rect">
            <a:avLst/>
          </a:prstGeom>
          <a:noFill/>
        </p:spPr>
        <p:txBody>
          <a:bodyPr wrap="square" anchor="ctr">
            <a:noAutofit/>
          </a:bodyPr>
          <a:lstStyle/>
          <a:p>
            <a:pPr algn="ctr"/>
            <a:r>
              <a:rPr sz="1300" b="1" dirty="0">
                <a:solidFill>
                  <a:srgbClr val="091426"/>
                </a:solidFill>
                <a:latin typeface="Aptos"/>
              </a:rPr>
              <a:t>74</a:t>
            </a:r>
          </a:p>
        </p:txBody>
      </p:sp>
      <p:sp>
        <p:nvSpPr>
          <p:cNvPr id="137" name="AxisX_Karar Ağacı (Decision Tree)"/>
          <p:cNvSpPr txBox="1"/>
          <p:nvPr/>
        </p:nvSpPr>
        <p:spPr>
          <a:xfrm>
            <a:off x="4616000" y="4227360"/>
            <a:ext cx="2960000" cy="220000"/>
          </a:xfrm>
          <a:prstGeom prst="rect">
            <a:avLst/>
          </a:prstGeom>
          <a:noFill/>
        </p:spPr>
        <p:txBody>
          <a:bodyPr wrap="square" anchor="t">
            <a:noAutofit/>
          </a:bodyPr>
          <a:lstStyle/>
          <a:p>
            <a:pPr algn="ctr"/>
            <a:r>
              <a:rPr sz="850" b="0" dirty="0">
                <a:solidFill>
                  <a:srgbClr val="A5B5C9"/>
                </a:solidFill>
                <a:latin typeface="Aptos"/>
              </a:rPr>
              <a:t>Modelin Tahmini (0 / 1)</a:t>
            </a:r>
          </a:p>
        </p:txBody>
      </p:sp>
      <p:sp>
        <p:nvSpPr>
          <p:cNvPr id="138" name="AxisY_Karar Ağacı (Decision Tree)"/>
          <p:cNvSpPr txBox="1"/>
          <p:nvPr/>
        </p:nvSpPr>
        <p:spPr>
          <a:xfrm>
            <a:off x="4616000" y="4467360"/>
            <a:ext cx="2960000" cy="220000"/>
          </a:xfrm>
          <a:prstGeom prst="rect">
            <a:avLst/>
          </a:prstGeom>
          <a:noFill/>
        </p:spPr>
        <p:txBody>
          <a:bodyPr wrap="square" anchor="t">
            <a:noAutofit/>
          </a:bodyPr>
          <a:lstStyle/>
          <a:p>
            <a:pPr algn="ctr"/>
            <a:r>
              <a:rPr sz="850" b="0" dirty="0">
                <a:solidFill>
                  <a:srgbClr val="A5B5C9"/>
                </a:solidFill>
                <a:latin typeface="Aptos"/>
              </a:rPr>
              <a:t>Satır: Gerçek Değer</a:t>
            </a:r>
          </a:p>
        </p:txBody>
      </p:sp>
      <p:sp>
        <p:nvSpPr>
          <p:cNvPr id="139" name="Card_Random Forest"/>
          <p:cNvSpPr/>
          <p:nvPr/>
        </p:nvSpPr>
        <p:spPr>
          <a:xfrm>
            <a:off x="8106200" y="1737360"/>
            <a:ext cx="3400000" cy="4069080"/>
          </a:xfrm>
          <a:prstGeom prst="roundRect">
            <a:avLst/>
          </a:prstGeom>
          <a:solidFill>
            <a:srgbClr val="122239"/>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itle_Random Forest"/>
          <p:cNvSpPr txBox="1"/>
          <p:nvPr/>
        </p:nvSpPr>
        <p:spPr>
          <a:xfrm>
            <a:off x="8326200" y="1947360"/>
            <a:ext cx="2960000" cy="340000"/>
          </a:xfrm>
          <a:prstGeom prst="rect">
            <a:avLst/>
          </a:prstGeom>
          <a:noFill/>
        </p:spPr>
        <p:txBody>
          <a:bodyPr wrap="square" anchor="t">
            <a:noAutofit/>
          </a:bodyPr>
          <a:lstStyle/>
          <a:p>
            <a:pPr algn="l"/>
            <a:r>
              <a:rPr sz="1300" b="1" dirty="0">
                <a:solidFill>
                  <a:srgbClr val="FFB547"/>
                </a:solidFill>
                <a:latin typeface="Aptos"/>
              </a:rPr>
              <a:t>Random Forest</a:t>
            </a:r>
          </a:p>
        </p:txBody>
      </p:sp>
      <p:sp>
        <p:nvSpPr>
          <p:cNvPr id="141" name="Acc_Random Forest"/>
          <p:cNvSpPr txBox="1"/>
          <p:nvPr/>
        </p:nvSpPr>
        <p:spPr>
          <a:xfrm>
            <a:off x="8326200" y="2277360"/>
            <a:ext cx="2960000" cy="260000"/>
          </a:xfrm>
          <a:prstGeom prst="rect">
            <a:avLst/>
          </a:prstGeom>
          <a:noFill/>
        </p:spPr>
        <p:txBody>
          <a:bodyPr wrap="square" anchor="t">
            <a:noAutofit/>
          </a:bodyPr>
          <a:lstStyle/>
          <a:p>
            <a:pPr algn="l"/>
            <a:r>
              <a:rPr sz="1000" b="1" dirty="0">
                <a:solidFill>
                  <a:srgbClr val="A5B5C9"/>
                </a:solidFill>
                <a:latin typeface="Aptos"/>
              </a:rPr>
              <a:t>Accuracy: </a:t>
            </a:r>
            <a:r>
              <a:rPr sz="1000" b="1" dirty="0">
                <a:solidFill>
                  <a:srgbClr val="F5F8FC"/>
                </a:solidFill>
                <a:latin typeface="Aptos"/>
              </a:rPr>
              <a:t>80.22%</a:t>
            </a:r>
          </a:p>
        </p:txBody>
      </p:sp>
      <p:sp>
        <p:nvSpPr>
          <p:cNvPr id="142" name="ColLbl0_Random Forest"/>
          <p:cNvSpPr txBox="1"/>
          <p:nvPr/>
        </p:nvSpPr>
        <p:spPr>
          <a:xfrm>
            <a:off x="9306200" y="2517360"/>
            <a:ext cx="660000" cy="300000"/>
          </a:xfrm>
          <a:prstGeom prst="rect">
            <a:avLst/>
          </a:prstGeom>
          <a:noFill/>
        </p:spPr>
        <p:txBody>
          <a:bodyPr wrap="square" anchor="t">
            <a:noAutofit/>
          </a:bodyPr>
          <a:lstStyle/>
          <a:p>
            <a:pPr algn="ctr"/>
            <a:r>
              <a:rPr sz="1000" b="1" dirty="0">
                <a:solidFill>
                  <a:srgbClr val="A5B5C9"/>
                </a:solidFill>
                <a:latin typeface="Aptos"/>
              </a:rPr>
              <a:t>0</a:t>
            </a:r>
          </a:p>
        </p:txBody>
      </p:sp>
      <p:sp>
        <p:nvSpPr>
          <p:cNvPr id="143" name="ColLbl1_Random Forest"/>
          <p:cNvSpPr txBox="1"/>
          <p:nvPr/>
        </p:nvSpPr>
        <p:spPr>
          <a:xfrm>
            <a:off x="9966200" y="2517360"/>
            <a:ext cx="660000" cy="300000"/>
          </a:xfrm>
          <a:prstGeom prst="rect">
            <a:avLst/>
          </a:prstGeom>
          <a:noFill/>
        </p:spPr>
        <p:txBody>
          <a:bodyPr wrap="square" anchor="t">
            <a:noAutofit/>
          </a:bodyPr>
          <a:lstStyle/>
          <a:p>
            <a:pPr algn="ctr"/>
            <a:r>
              <a:rPr sz="1000" b="1" dirty="0">
                <a:solidFill>
                  <a:srgbClr val="A5B5C9"/>
                </a:solidFill>
                <a:latin typeface="Aptos"/>
              </a:rPr>
              <a:t>1</a:t>
            </a:r>
          </a:p>
        </p:txBody>
      </p:sp>
      <p:sp>
        <p:nvSpPr>
          <p:cNvPr id="144" name="RowLbl0_Random Forest"/>
          <p:cNvSpPr txBox="1"/>
          <p:nvPr/>
        </p:nvSpPr>
        <p:spPr>
          <a:xfrm>
            <a:off x="8986200" y="2817360"/>
            <a:ext cx="320000" cy="660000"/>
          </a:xfrm>
          <a:prstGeom prst="rect">
            <a:avLst/>
          </a:prstGeom>
          <a:noFill/>
        </p:spPr>
        <p:txBody>
          <a:bodyPr wrap="square" anchor="ctr">
            <a:noAutofit/>
          </a:bodyPr>
          <a:lstStyle/>
          <a:p>
            <a:pPr algn="ctr"/>
            <a:r>
              <a:rPr sz="1000" b="1" dirty="0">
                <a:solidFill>
                  <a:srgbClr val="A5B5C9"/>
                </a:solidFill>
                <a:latin typeface="Aptos"/>
              </a:rPr>
              <a:t>0</a:t>
            </a:r>
          </a:p>
        </p:txBody>
      </p:sp>
      <p:sp>
        <p:nvSpPr>
          <p:cNvPr id="145" name="RowLbl1_Random Forest"/>
          <p:cNvSpPr txBox="1"/>
          <p:nvPr/>
        </p:nvSpPr>
        <p:spPr>
          <a:xfrm>
            <a:off x="8986200" y="3477360"/>
            <a:ext cx="320000" cy="660000"/>
          </a:xfrm>
          <a:prstGeom prst="rect">
            <a:avLst/>
          </a:prstGeom>
          <a:noFill/>
        </p:spPr>
        <p:txBody>
          <a:bodyPr wrap="square" anchor="ctr">
            <a:noAutofit/>
          </a:bodyPr>
          <a:lstStyle/>
          <a:p>
            <a:pPr algn="ctr"/>
            <a:r>
              <a:rPr sz="1000" b="1" dirty="0">
                <a:solidFill>
                  <a:srgbClr val="A5B5C9"/>
                </a:solidFill>
                <a:latin typeface="Aptos"/>
              </a:rPr>
              <a:t>1</a:t>
            </a:r>
          </a:p>
        </p:txBody>
      </p:sp>
      <p:sp>
        <p:nvSpPr>
          <p:cNvPr id="146" name="TN_Random Forest"/>
          <p:cNvSpPr/>
          <p:nvPr/>
        </p:nvSpPr>
        <p:spPr>
          <a:xfrm>
            <a:off x="9306200" y="2817360"/>
            <a:ext cx="660000" cy="660000"/>
          </a:xfrm>
          <a:prstGeom prst="rect">
            <a:avLst/>
          </a:prstGeom>
          <a:solidFill>
            <a:srgbClr val="FFB5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TNt_Random Forest"/>
          <p:cNvSpPr txBox="1"/>
          <p:nvPr/>
        </p:nvSpPr>
        <p:spPr>
          <a:xfrm>
            <a:off x="9306200" y="2817360"/>
            <a:ext cx="660000" cy="660000"/>
          </a:xfrm>
          <a:prstGeom prst="rect">
            <a:avLst/>
          </a:prstGeom>
          <a:noFill/>
        </p:spPr>
        <p:txBody>
          <a:bodyPr wrap="square" anchor="ctr">
            <a:noAutofit/>
          </a:bodyPr>
          <a:lstStyle/>
          <a:p>
            <a:pPr algn="ctr"/>
            <a:r>
              <a:rPr sz="1300" b="1" dirty="0">
                <a:solidFill>
                  <a:srgbClr val="091426"/>
                </a:solidFill>
                <a:latin typeface="Aptos"/>
              </a:rPr>
              <a:t>141</a:t>
            </a:r>
          </a:p>
        </p:txBody>
      </p:sp>
      <p:sp>
        <p:nvSpPr>
          <p:cNvPr id="148" name="FP_Random Forest"/>
          <p:cNvSpPr/>
          <p:nvPr/>
        </p:nvSpPr>
        <p:spPr>
          <a:xfrm>
            <a:off x="9966200" y="2817360"/>
            <a:ext cx="660000" cy="660000"/>
          </a:xfrm>
          <a:prstGeom prst="rect">
            <a:avLst/>
          </a:prstGeom>
          <a:solidFill>
            <a:srgbClr val="18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FPt_Random Forest"/>
          <p:cNvSpPr txBox="1"/>
          <p:nvPr/>
        </p:nvSpPr>
        <p:spPr>
          <a:xfrm>
            <a:off x="9966200" y="2817360"/>
            <a:ext cx="660000" cy="660000"/>
          </a:xfrm>
          <a:prstGeom prst="rect">
            <a:avLst/>
          </a:prstGeom>
          <a:noFill/>
        </p:spPr>
        <p:txBody>
          <a:bodyPr wrap="square" anchor="ctr">
            <a:noAutofit/>
          </a:bodyPr>
          <a:lstStyle/>
          <a:p>
            <a:pPr algn="ctr"/>
            <a:r>
              <a:rPr sz="1300" b="0" dirty="0">
                <a:solidFill>
                  <a:srgbClr val="A5B5C9"/>
                </a:solidFill>
                <a:latin typeface="Aptos"/>
              </a:rPr>
              <a:t>16</a:t>
            </a:r>
          </a:p>
        </p:txBody>
      </p:sp>
      <p:sp>
        <p:nvSpPr>
          <p:cNvPr id="150" name="FN_Random Forest"/>
          <p:cNvSpPr/>
          <p:nvPr/>
        </p:nvSpPr>
        <p:spPr>
          <a:xfrm>
            <a:off x="9306200" y="3477360"/>
            <a:ext cx="660000" cy="660000"/>
          </a:xfrm>
          <a:prstGeom prst="rect">
            <a:avLst/>
          </a:prstGeom>
          <a:solidFill>
            <a:srgbClr val="18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FNt_Random Forest"/>
          <p:cNvSpPr txBox="1"/>
          <p:nvPr/>
        </p:nvSpPr>
        <p:spPr>
          <a:xfrm>
            <a:off x="9306200" y="3477360"/>
            <a:ext cx="660000" cy="660000"/>
          </a:xfrm>
          <a:prstGeom prst="rect">
            <a:avLst/>
          </a:prstGeom>
          <a:noFill/>
        </p:spPr>
        <p:txBody>
          <a:bodyPr wrap="square" anchor="ctr">
            <a:noAutofit/>
          </a:bodyPr>
          <a:lstStyle/>
          <a:p>
            <a:pPr algn="ctr"/>
            <a:r>
              <a:rPr sz="1300" b="0" dirty="0">
                <a:solidFill>
                  <a:srgbClr val="A5B5C9"/>
                </a:solidFill>
                <a:latin typeface="Aptos"/>
              </a:rPr>
              <a:t>37</a:t>
            </a:r>
          </a:p>
        </p:txBody>
      </p:sp>
      <p:sp>
        <p:nvSpPr>
          <p:cNvPr id="152" name="TP_Random Forest"/>
          <p:cNvSpPr/>
          <p:nvPr/>
        </p:nvSpPr>
        <p:spPr>
          <a:xfrm>
            <a:off x="9966200" y="3477360"/>
            <a:ext cx="660000" cy="660000"/>
          </a:xfrm>
          <a:prstGeom prst="rect">
            <a:avLst/>
          </a:prstGeom>
          <a:solidFill>
            <a:srgbClr val="FFB5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TPt_Random Forest"/>
          <p:cNvSpPr txBox="1"/>
          <p:nvPr/>
        </p:nvSpPr>
        <p:spPr>
          <a:xfrm>
            <a:off x="9966200" y="3477360"/>
            <a:ext cx="660000" cy="660000"/>
          </a:xfrm>
          <a:prstGeom prst="rect">
            <a:avLst/>
          </a:prstGeom>
          <a:noFill/>
        </p:spPr>
        <p:txBody>
          <a:bodyPr wrap="square" anchor="ctr">
            <a:noAutofit/>
          </a:bodyPr>
          <a:lstStyle/>
          <a:p>
            <a:pPr algn="ctr"/>
            <a:r>
              <a:rPr sz="1300" b="1" dirty="0">
                <a:solidFill>
                  <a:srgbClr val="091426"/>
                </a:solidFill>
                <a:latin typeface="Aptos"/>
              </a:rPr>
              <a:t>74</a:t>
            </a:r>
          </a:p>
        </p:txBody>
      </p:sp>
      <p:sp>
        <p:nvSpPr>
          <p:cNvPr id="154" name="AxisX_Random Forest"/>
          <p:cNvSpPr txBox="1"/>
          <p:nvPr/>
        </p:nvSpPr>
        <p:spPr>
          <a:xfrm>
            <a:off x="8326200" y="4227360"/>
            <a:ext cx="2960000" cy="220000"/>
          </a:xfrm>
          <a:prstGeom prst="rect">
            <a:avLst/>
          </a:prstGeom>
          <a:noFill/>
        </p:spPr>
        <p:txBody>
          <a:bodyPr wrap="square" anchor="t">
            <a:noAutofit/>
          </a:bodyPr>
          <a:lstStyle/>
          <a:p>
            <a:pPr algn="ctr"/>
            <a:r>
              <a:rPr sz="850" b="0" dirty="0">
                <a:solidFill>
                  <a:srgbClr val="A5B5C9"/>
                </a:solidFill>
                <a:latin typeface="Aptos"/>
              </a:rPr>
              <a:t>Modelin Tahmini (0 / 1)</a:t>
            </a:r>
          </a:p>
        </p:txBody>
      </p:sp>
      <p:sp>
        <p:nvSpPr>
          <p:cNvPr id="155" name="AxisY_Random Forest"/>
          <p:cNvSpPr txBox="1"/>
          <p:nvPr/>
        </p:nvSpPr>
        <p:spPr>
          <a:xfrm>
            <a:off x="8326200" y="4467360"/>
            <a:ext cx="2960000" cy="220000"/>
          </a:xfrm>
          <a:prstGeom prst="rect">
            <a:avLst/>
          </a:prstGeom>
          <a:noFill/>
        </p:spPr>
        <p:txBody>
          <a:bodyPr wrap="square" anchor="t">
            <a:noAutofit/>
          </a:bodyPr>
          <a:lstStyle/>
          <a:p>
            <a:pPr algn="ctr"/>
            <a:r>
              <a:rPr sz="850" b="0" dirty="0">
                <a:solidFill>
                  <a:srgbClr val="A5B5C9"/>
                </a:solidFill>
                <a:latin typeface="Aptos"/>
              </a:rPr>
              <a:t>Satır: Gerçek Değer</a:t>
            </a:r>
          </a:p>
        </p:txBody>
      </p:sp>
      <p:sp>
        <p:nvSpPr>
          <p:cNvPr id="156" name="Footer"/>
          <p:cNvSpPr txBox="1"/>
          <p:nvPr/>
        </p:nvSpPr>
        <p:spPr>
          <a:xfrm>
            <a:off x="594360" y="6473952"/>
            <a:ext cx="6400800" cy="182880"/>
          </a:xfrm>
          <a:prstGeom prst="rect">
            <a:avLst/>
          </a:prstGeom>
          <a:noFill/>
        </p:spPr>
        <p:txBody>
          <a:bodyPr wrap="square" anchor="t">
            <a:noAutofit/>
          </a:bodyPr>
          <a:lstStyle/>
          <a:p>
            <a:pPr algn="l"/>
            <a:r>
              <a:rPr sz="800" b="0" dirty="0">
                <a:solidFill>
                  <a:srgbClr val="A5B5C9"/>
                </a:solidFill>
                <a:latin typeface="Aptos"/>
              </a:rPr>
              <a:t>Titanik Veri Analizi Projesi</a:t>
            </a:r>
          </a:p>
        </p:txBody>
      </p:sp>
      <p:sp>
        <p:nvSpPr>
          <p:cNvPr id="157" name="model_comment_0"/>
          <p:cNvSpPr txBox="1"/>
          <p:nvPr/>
        </p:nvSpPr>
        <p:spPr>
          <a:xfrm>
            <a:off x="883136" y="5157170"/>
            <a:ext cx="3246120" cy="502920"/>
          </a:xfrm>
          <a:prstGeom prst="rect">
            <a:avLst/>
          </a:prstGeom>
          <a:noFill/>
        </p:spPr>
        <p:txBody>
          <a:bodyPr wrap="square" anchor="t">
            <a:spAutoFit/>
          </a:bodyPr>
          <a:lstStyle/>
          <a:p>
            <a:pPr algn="l">
              <a:lnSpc>
                <a:spcPct val="100000"/>
              </a:lnSpc>
              <a:spcAft>
                <a:spcPts val="0"/>
              </a:spcAft>
            </a:pPr>
            <a:r>
              <a:rPr sz="1050" dirty="0" err="1">
                <a:solidFill>
                  <a:srgbClr val="B8C4D6"/>
                </a:solidFill>
                <a:latin typeface="Aptos"/>
              </a:rPr>
              <a:t>Yolcunun</a:t>
            </a:r>
            <a:r>
              <a:rPr sz="1050" dirty="0">
                <a:solidFill>
                  <a:srgbClr val="B8C4D6"/>
                </a:solidFill>
                <a:latin typeface="Aptos"/>
              </a:rPr>
              <a:t> </a:t>
            </a:r>
            <a:r>
              <a:rPr sz="1050" dirty="0" err="1">
                <a:solidFill>
                  <a:srgbClr val="B8C4D6"/>
                </a:solidFill>
                <a:latin typeface="Aptos"/>
              </a:rPr>
              <a:t>hayatta</a:t>
            </a:r>
            <a:r>
              <a:rPr sz="1050" dirty="0">
                <a:solidFill>
                  <a:srgbClr val="B8C4D6"/>
                </a:solidFill>
                <a:latin typeface="Aptos"/>
              </a:rPr>
              <a:t> </a:t>
            </a:r>
            <a:r>
              <a:rPr sz="1050" dirty="0" err="1">
                <a:solidFill>
                  <a:srgbClr val="B8C4D6"/>
                </a:solidFill>
                <a:latin typeface="Aptos"/>
              </a:rPr>
              <a:t>kalma</a:t>
            </a:r>
            <a:r>
              <a:rPr sz="1050" dirty="0">
                <a:solidFill>
                  <a:srgbClr val="B8C4D6"/>
                </a:solidFill>
                <a:latin typeface="Aptos"/>
              </a:rPr>
              <a:t> </a:t>
            </a:r>
            <a:r>
              <a:rPr sz="1050" dirty="0" err="1">
                <a:solidFill>
                  <a:srgbClr val="B8C4D6"/>
                </a:solidFill>
                <a:latin typeface="Aptos"/>
              </a:rPr>
              <a:t>durumunu</a:t>
            </a:r>
            <a:r>
              <a:rPr sz="1050" dirty="0">
                <a:solidFill>
                  <a:srgbClr val="B8C4D6"/>
                </a:solidFill>
                <a:latin typeface="Aptos"/>
              </a:rPr>
              <a:t> %79,85 </a:t>
            </a:r>
            <a:r>
              <a:rPr sz="1050" dirty="0" err="1">
                <a:solidFill>
                  <a:srgbClr val="B8C4D6"/>
                </a:solidFill>
                <a:latin typeface="Aptos"/>
              </a:rPr>
              <a:t>doğrulukla</a:t>
            </a:r>
            <a:r>
              <a:rPr sz="1050" dirty="0">
                <a:solidFill>
                  <a:srgbClr val="B8C4D6"/>
                </a:solidFill>
                <a:latin typeface="Aptos"/>
              </a:rPr>
              <a:t> </a:t>
            </a:r>
            <a:r>
              <a:rPr sz="1050" dirty="0" err="1">
                <a:solidFill>
                  <a:srgbClr val="B8C4D6"/>
                </a:solidFill>
                <a:latin typeface="Aptos"/>
              </a:rPr>
              <a:t>tahmin</a:t>
            </a:r>
            <a:r>
              <a:rPr sz="1050" dirty="0">
                <a:solidFill>
                  <a:srgbClr val="B8C4D6"/>
                </a:solidFill>
                <a:latin typeface="Aptos"/>
              </a:rPr>
              <a:t> </a:t>
            </a:r>
            <a:r>
              <a:rPr sz="1050" dirty="0" err="1">
                <a:solidFill>
                  <a:srgbClr val="B8C4D6"/>
                </a:solidFill>
                <a:latin typeface="Aptos"/>
              </a:rPr>
              <a:t>etti</a:t>
            </a:r>
            <a:r>
              <a:rPr sz="1050" dirty="0">
                <a:solidFill>
                  <a:srgbClr val="B8C4D6"/>
                </a:solidFill>
                <a:latin typeface="Aptos"/>
              </a:rPr>
              <a:t>; </a:t>
            </a:r>
            <a:r>
              <a:rPr sz="1050" dirty="0" err="1">
                <a:solidFill>
                  <a:srgbClr val="B8C4D6"/>
                </a:solidFill>
                <a:latin typeface="Aptos"/>
              </a:rPr>
              <a:t>dengeli</a:t>
            </a:r>
            <a:r>
              <a:rPr sz="1050" dirty="0">
                <a:solidFill>
                  <a:srgbClr val="B8C4D6"/>
                </a:solidFill>
                <a:latin typeface="Aptos"/>
              </a:rPr>
              <a:t> </a:t>
            </a:r>
            <a:r>
              <a:rPr sz="1050" dirty="0" err="1">
                <a:solidFill>
                  <a:srgbClr val="B8C4D6"/>
                </a:solidFill>
                <a:latin typeface="Aptos"/>
              </a:rPr>
              <a:t>bir</a:t>
            </a:r>
            <a:r>
              <a:rPr sz="1050" dirty="0">
                <a:solidFill>
                  <a:srgbClr val="B8C4D6"/>
                </a:solidFill>
                <a:latin typeface="Aptos"/>
              </a:rPr>
              <a:t> </a:t>
            </a:r>
            <a:r>
              <a:rPr sz="1050" dirty="0" err="1">
                <a:solidFill>
                  <a:srgbClr val="B8C4D6"/>
                </a:solidFill>
                <a:latin typeface="Aptos"/>
              </a:rPr>
              <a:t>sonuç</a:t>
            </a:r>
            <a:r>
              <a:rPr sz="1050" dirty="0">
                <a:solidFill>
                  <a:srgbClr val="B8C4D6"/>
                </a:solidFill>
                <a:latin typeface="Aptos"/>
              </a:rPr>
              <a:t> </a:t>
            </a:r>
            <a:r>
              <a:rPr sz="1050" dirty="0" err="1">
                <a:solidFill>
                  <a:srgbClr val="B8C4D6"/>
                </a:solidFill>
                <a:latin typeface="Aptos"/>
              </a:rPr>
              <a:t>verdi</a:t>
            </a:r>
            <a:r>
              <a:rPr sz="1050" dirty="0">
                <a:solidFill>
                  <a:srgbClr val="B8C4D6"/>
                </a:solidFill>
                <a:latin typeface="Aptos"/>
              </a:rPr>
              <a:t>.</a:t>
            </a:r>
          </a:p>
        </p:txBody>
      </p:sp>
      <p:sp>
        <p:nvSpPr>
          <p:cNvPr id="158" name="model_comment_1"/>
          <p:cNvSpPr txBox="1"/>
          <p:nvPr/>
        </p:nvSpPr>
        <p:spPr>
          <a:xfrm>
            <a:off x="4608924" y="5192060"/>
            <a:ext cx="3246120" cy="502920"/>
          </a:xfrm>
          <a:prstGeom prst="rect">
            <a:avLst/>
          </a:prstGeom>
          <a:noFill/>
        </p:spPr>
        <p:txBody>
          <a:bodyPr wrap="square" anchor="t">
            <a:spAutoFit/>
          </a:bodyPr>
          <a:lstStyle/>
          <a:p>
            <a:pPr algn="l">
              <a:lnSpc>
                <a:spcPct val="100000"/>
              </a:lnSpc>
              <a:spcAft>
                <a:spcPts val="0"/>
              </a:spcAft>
            </a:pPr>
            <a:r>
              <a:rPr sz="1050" dirty="0" err="1">
                <a:solidFill>
                  <a:srgbClr val="B8C4D6"/>
                </a:solidFill>
                <a:latin typeface="Aptos"/>
              </a:rPr>
              <a:t>Kural</a:t>
            </a:r>
            <a:r>
              <a:rPr sz="1050" dirty="0">
                <a:solidFill>
                  <a:srgbClr val="B8C4D6"/>
                </a:solidFill>
                <a:latin typeface="Aptos"/>
              </a:rPr>
              <a:t> </a:t>
            </a:r>
            <a:r>
              <a:rPr sz="1050" dirty="0" err="1">
                <a:solidFill>
                  <a:srgbClr val="B8C4D6"/>
                </a:solidFill>
                <a:latin typeface="Aptos"/>
              </a:rPr>
              <a:t>tabanlı</a:t>
            </a:r>
            <a:r>
              <a:rPr sz="1050" dirty="0">
                <a:solidFill>
                  <a:srgbClr val="B8C4D6"/>
                </a:solidFill>
                <a:latin typeface="Aptos"/>
              </a:rPr>
              <a:t> </a:t>
            </a:r>
            <a:r>
              <a:rPr sz="1050" dirty="0" err="1">
                <a:solidFill>
                  <a:srgbClr val="B8C4D6"/>
                </a:solidFill>
                <a:latin typeface="Aptos"/>
              </a:rPr>
              <a:t>bu</a:t>
            </a:r>
            <a:r>
              <a:rPr sz="1050" dirty="0">
                <a:solidFill>
                  <a:srgbClr val="B8C4D6"/>
                </a:solidFill>
                <a:latin typeface="Aptos"/>
              </a:rPr>
              <a:t> model %74,63 </a:t>
            </a:r>
            <a:r>
              <a:rPr sz="1050" dirty="0" err="1">
                <a:solidFill>
                  <a:srgbClr val="B8C4D6"/>
                </a:solidFill>
                <a:latin typeface="Aptos"/>
              </a:rPr>
              <a:t>doğrulukla</a:t>
            </a:r>
            <a:r>
              <a:rPr sz="1050" dirty="0">
                <a:solidFill>
                  <a:srgbClr val="B8C4D6"/>
                </a:solidFill>
                <a:latin typeface="Aptos"/>
              </a:rPr>
              <a:t> </a:t>
            </a:r>
            <a:r>
              <a:rPr sz="1050" dirty="0" err="1">
                <a:solidFill>
                  <a:srgbClr val="B8C4D6"/>
                </a:solidFill>
                <a:latin typeface="Aptos"/>
              </a:rPr>
              <a:t>üç</a:t>
            </a:r>
            <a:r>
              <a:rPr sz="1050" dirty="0">
                <a:solidFill>
                  <a:srgbClr val="B8C4D6"/>
                </a:solidFill>
                <a:latin typeface="Aptos"/>
              </a:rPr>
              <a:t> model </a:t>
            </a:r>
            <a:r>
              <a:rPr sz="1050" dirty="0" err="1">
                <a:solidFill>
                  <a:srgbClr val="B8C4D6"/>
                </a:solidFill>
                <a:latin typeface="Aptos"/>
              </a:rPr>
              <a:t>arasında</a:t>
            </a:r>
            <a:r>
              <a:rPr sz="1050" dirty="0">
                <a:solidFill>
                  <a:srgbClr val="B8C4D6"/>
                </a:solidFill>
                <a:latin typeface="Aptos"/>
              </a:rPr>
              <a:t> </a:t>
            </a:r>
            <a:r>
              <a:rPr sz="1050" dirty="0" err="1">
                <a:solidFill>
                  <a:srgbClr val="B8C4D6"/>
                </a:solidFill>
                <a:latin typeface="Aptos"/>
              </a:rPr>
              <a:t>daha</a:t>
            </a:r>
            <a:r>
              <a:rPr sz="1050" dirty="0">
                <a:solidFill>
                  <a:srgbClr val="B8C4D6"/>
                </a:solidFill>
                <a:latin typeface="Aptos"/>
              </a:rPr>
              <a:t> </a:t>
            </a:r>
            <a:r>
              <a:rPr sz="1050" dirty="0" err="1">
                <a:solidFill>
                  <a:srgbClr val="B8C4D6"/>
                </a:solidFill>
                <a:latin typeface="Aptos"/>
              </a:rPr>
              <a:t>düşük</a:t>
            </a:r>
            <a:r>
              <a:rPr sz="1050" dirty="0">
                <a:solidFill>
                  <a:srgbClr val="B8C4D6"/>
                </a:solidFill>
                <a:latin typeface="Aptos"/>
              </a:rPr>
              <a:t> </a:t>
            </a:r>
            <a:r>
              <a:rPr sz="1050" dirty="0" err="1">
                <a:solidFill>
                  <a:srgbClr val="B8C4D6"/>
                </a:solidFill>
                <a:latin typeface="Aptos"/>
              </a:rPr>
              <a:t>performans</a:t>
            </a:r>
            <a:r>
              <a:rPr sz="1050" dirty="0">
                <a:solidFill>
                  <a:srgbClr val="B8C4D6"/>
                </a:solidFill>
                <a:latin typeface="Aptos"/>
              </a:rPr>
              <a:t> </a:t>
            </a:r>
            <a:r>
              <a:rPr sz="1050" dirty="0" err="1">
                <a:solidFill>
                  <a:srgbClr val="B8C4D6"/>
                </a:solidFill>
                <a:latin typeface="Aptos"/>
              </a:rPr>
              <a:t>gösterdi</a:t>
            </a:r>
            <a:r>
              <a:rPr sz="1050" dirty="0">
                <a:solidFill>
                  <a:srgbClr val="B8C4D6"/>
                </a:solidFill>
                <a:latin typeface="Aptos"/>
              </a:rPr>
              <a:t>.</a:t>
            </a:r>
          </a:p>
        </p:txBody>
      </p:sp>
      <p:sp>
        <p:nvSpPr>
          <p:cNvPr id="159" name="model_comment_2"/>
          <p:cNvSpPr txBox="1"/>
          <p:nvPr/>
        </p:nvSpPr>
        <p:spPr>
          <a:xfrm>
            <a:off x="8223864" y="5157839"/>
            <a:ext cx="3246120" cy="502920"/>
          </a:xfrm>
          <a:prstGeom prst="rect">
            <a:avLst/>
          </a:prstGeom>
          <a:noFill/>
        </p:spPr>
        <p:txBody>
          <a:bodyPr wrap="square" anchor="t">
            <a:spAutoFit/>
          </a:bodyPr>
          <a:lstStyle/>
          <a:p>
            <a:pPr algn="l">
              <a:lnSpc>
                <a:spcPct val="100000"/>
              </a:lnSpc>
              <a:spcAft>
                <a:spcPts val="0"/>
              </a:spcAft>
            </a:pPr>
            <a:r>
              <a:rPr sz="1050" dirty="0" err="1">
                <a:solidFill>
                  <a:srgbClr val="B8C4D6"/>
                </a:solidFill>
                <a:latin typeface="Aptos"/>
              </a:rPr>
              <a:t>Birden</a:t>
            </a:r>
            <a:r>
              <a:rPr sz="1050" dirty="0">
                <a:solidFill>
                  <a:srgbClr val="B8C4D6"/>
                </a:solidFill>
                <a:latin typeface="Aptos"/>
              </a:rPr>
              <a:t> </a:t>
            </a:r>
            <a:r>
              <a:rPr sz="1050" dirty="0" err="1">
                <a:solidFill>
                  <a:srgbClr val="B8C4D6"/>
                </a:solidFill>
                <a:latin typeface="Aptos"/>
              </a:rPr>
              <a:t>fazla</a:t>
            </a:r>
            <a:r>
              <a:rPr sz="1050" dirty="0">
                <a:solidFill>
                  <a:srgbClr val="B8C4D6"/>
                </a:solidFill>
                <a:latin typeface="Aptos"/>
              </a:rPr>
              <a:t> </a:t>
            </a:r>
            <a:r>
              <a:rPr sz="1050" dirty="0" err="1">
                <a:solidFill>
                  <a:srgbClr val="B8C4D6"/>
                </a:solidFill>
                <a:latin typeface="Aptos"/>
              </a:rPr>
              <a:t>karar</a:t>
            </a:r>
            <a:r>
              <a:rPr sz="1050" dirty="0">
                <a:solidFill>
                  <a:srgbClr val="B8C4D6"/>
                </a:solidFill>
                <a:latin typeface="Aptos"/>
              </a:rPr>
              <a:t> </a:t>
            </a:r>
            <a:r>
              <a:rPr sz="1050" dirty="0" err="1">
                <a:solidFill>
                  <a:srgbClr val="B8C4D6"/>
                </a:solidFill>
                <a:latin typeface="Aptos"/>
              </a:rPr>
              <a:t>ağacını</a:t>
            </a:r>
            <a:r>
              <a:rPr sz="1050" dirty="0">
                <a:solidFill>
                  <a:srgbClr val="B8C4D6"/>
                </a:solidFill>
                <a:latin typeface="Aptos"/>
              </a:rPr>
              <a:t> </a:t>
            </a:r>
            <a:r>
              <a:rPr sz="1050" dirty="0" err="1">
                <a:solidFill>
                  <a:srgbClr val="B8C4D6"/>
                </a:solidFill>
                <a:latin typeface="Aptos"/>
              </a:rPr>
              <a:t>birleştirerek</a:t>
            </a:r>
            <a:r>
              <a:rPr sz="1050" dirty="0">
                <a:solidFill>
                  <a:srgbClr val="B8C4D6"/>
                </a:solidFill>
                <a:latin typeface="Aptos"/>
              </a:rPr>
              <a:t> %80,22 </a:t>
            </a:r>
            <a:r>
              <a:rPr sz="1050" dirty="0" err="1">
                <a:solidFill>
                  <a:srgbClr val="B8C4D6"/>
                </a:solidFill>
                <a:latin typeface="Aptos"/>
              </a:rPr>
              <a:t>ile</a:t>
            </a:r>
            <a:r>
              <a:rPr sz="1050" dirty="0">
                <a:solidFill>
                  <a:srgbClr val="B8C4D6"/>
                </a:solidFill>
                <a:latin typeface="Aptos"/>
              </a:rPr>
              <a:t> </a:t>
            </a:r>
            <a:r>
              <a:rPr sz="1050" dirty="0" err="1">
                <a:solidFill>
                  <a:srgbClr val="B8C4D6"/>
                </a:solidFill>
                <a:latin typeface="Aptos"/>
              </a:rPr>
              <a:t>en</a:t>
            </a:r>
            <a:r>
              <a:rPr sz="1050" dirty="0">
                <a:solidFill>
                  <a:srgbClr val="B8C4D6"/>
                </a:solidFill>
                <a:latin typeface="Aptos"/>
              </a:rPr>
              <a:t> </a:t>
            </a:r>
            <a:r>
              <a:rPr sz="1050" dirty="0" err="1">
                <a:solidFill>
                  <a:srgbClr val="B8C4D6"/>
                </a:solidFill>
                <a:latin typeface="Aptos"/>
              </a:rPr>
              <a:t>yüksek</a:t>
            </a:r>
            <a:r>
              <a:rPr sz="1050" dirty="0">
                <a:solidFill>
                  <a:srgbClr val="B8C4D6"/>
                </a:solidFill>
                <a:latin typeface="Aptos"/>
              </a:rPr>
              <a:t> </a:t>
            </a:r>
            <a:r>
              <a:rPr sz="1050" dirty="0" err="1">
                <a:solidFill>
                  <a:srgbClr val="B8C4D6"/>
                </a:solidFill>
                <a:latin typeface="Aptos"/>
              </a:rPr>
              <a:t>doğruluğa</a:t>
            </a:r>
            <a:r>
              <a:rPr sz="1050" dirty="0">
                <a:solidFill>
                  <a:srgbClr val="B8C4D6"/>
                </a:solidFill>
                <a:latin typeface="Aptos"/>
              </a:rPr>
              <a:t> </a:t>
            </a:r>
            <a:r>
              <a:rPr sz="1050" dirty="0" err="1">
                <a:solidFill>
                  <a:srgbClr val="B8C4D6"/>
                </a:solidFill>
                <a:latin typeface="Aptos"/>
              </a:rPr>
              <a:t>ulaştı</a:t>
            </a:r>
            <a:r>
              <a:rPr sz="1050" dirty="0">
                <a:solidFill>
                  <a:srgbClr val="B8C4D6"/>
                </a:solidFill>
                <a:latin typeface="Aptos"/>
              </a:rPr>
              <a:t>.</a:t>
            </a:r>
          </a:p>
        </p:txBody>
      </p:sp>
      <p:sp>
        <p:nvSpPr>
          <p:cNvPr id="61" name="AxisY_Lojistik Regresyon"/>
          <p:cNvSpPr txBox="1"/>
          <p:nvPr/>
        </p:nvSpPr>
        <p:spPr>
          <a:xfrm rot="16200000">
            <a:off x="3695935" y="3308291"/>
            <a:ext cx="2960000" cy="220000"/>
          </a:xfrm>
          <a:prstGeom prst="rect">
            <a:avLst/>
          </a:prstGeom>
          <a:noFill/>
        </p:spPr>
        <p:txBody>
          <a:bodyPr wrap="square" anchor="t">
            <a:noAutofit/>
          </a:bodyPr>
          <a:lstStyle/>
          <a:p>
            <a:pPr algn="ctr"/>
            <a:r>
              <a:rPr sz="850" b="0" dirty="0" err="1" smtClean="0">
                <a:solidFill>
                  <a:srgbClr val="A5B5C9"/>
                </a:solidFill>
                <a:latin typeface="Aptos"/>
              </a:rPr>
              <a:t>Gerçek</a:t>
            </a:r>
            <a:r>
              <a:rPr sz="850" b="0" dirty="0" smtClean="0">
                <a:solidFill>
                  <a:srgbClr val="A5B5C9"/>
                </a:solidFill>
                <a:latin typeface="Aptos"/>
              </a:rPr>
              <a:t> </a:t>
            </a:r>
            <a:r>
              <a:rPr sz="850" b="0" dirty="0">
                <a:solidFill>
                  <a:srgbClr val="A5B5C9"/>
                </a:solidFill>
                <a:latin typeface="Aptos"/>
              </a:rPr>
              <a:t>Değer</a:t>
            </a:r>
          </a:p>
        </p:txBody>
      </p:sp>
      <p:sp>
        <p:nvSpPr>
          <p:cNvPr id="64" name="AxisY_Lojistik Regresyon"/>
          <p:cNvSpPr txBox="1"/>
          <p:nvPr/>
        </p:nvSpPr>
        <p:spPr>
          <a:xfrm rot="16200000">
            <a:off x="7404760" y="3421878"/>
            <a:ext cx="2960000" cy="220000"/>
          </a:xfrm>
          <a:prstGeom prst="rect">
            <a:avLst/>
          </a:prstGeom>
          <a:noFill/>
        </p:spPr>
        <p:txBody>
          <a:bodyPr wrap="square" anchor="t">
            <a:noAutofit/>
          </a:bodyPr>
          <a:lstStyle/>
          <a:p>
            <a:pPr algn="ctr"/>
            <a:r>
              <a:rPr sz="850" b="0" dirty="0" err="1" smtClean="0">
                <a:solidFill>
                  <a:srgbClr val="A5B5C9"/>
                </a:solidFill>
                <a:latin typeface="Aptos"/>
              </a:rPr>
              <a:t>Gerçek</a:t>
            </a:r>
            <a:r>
              <a:rPr sz="850" b="0" dirty="0" smtClean="0">
                <a:solidFill>
                  <a:srgbClr val="A5B5C9"/>
                </a:solidFill>
                <a:latin typeface="Aptos"/>
              </a:rPr>
              <a:t> </a:t>
            </a:r>
            <a:r>
              <a:rPr sz="850" b="0" dirty="0">
                <a:solidFill>
                  <a:srgbClr val="A5B5C9"/>
                </a:solidFill>
                <a:latin typeface="Aptos"/>
              </a:rPr>
              <a:t>Değer</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91426"/>
        </a:solidFill>
        <a:effectLst/>
      </p:bgPr>
    </p:bg>
    <p:spTree>
      <p:nvGrpSpPr>
        <p:cNvPr id="1" name=""/>
        <p:cNvGrpSpPr/>
        <p:nvPr/>
      </p:nvGrpSpPr>
      <p:grpSpPr>
        <a:xfrm>
          <a:off x="0" y="0"/>
          <a:ext cx="0" cy="0"/>
          <a:chOff x="0" y="0"/>
          <a:chExt cx="0" cy="0"/>
        </a:xfrm>
      </p:grpSpPr>
      <p:sp>
        <p:nvSpPr>
          <p:cNvPr id="101" name="Eyebrow"/>
          <p:cNvSpPr txBox="1"/>
          <p:nvPr/>
        </p:nvSpPr>
        <p:spPr>
          <a:xfrm>
            <a:off x="594360" y="347472"/>
            <a:ext cx="5303520" cy="274320"/>
          </a:xfrm>
          <a:prstGeom prst="rect">
            <a:avLst/>
          </a:prstGeom>
          <a:noFill/>
        </p:spPr>
        <p:txBody>
          <a:bodyPr wrap="square" anchor="t">
            <a:noAutofit/>
          </a:bodyPr>
          <a:lstStyle/>
          <a:p>
            <a:pPr algn="l"/>
            <a:r>
              <a:rPr sz="1000" b="1" i="0" dirty="0">
                <a:solidFill>
                  <a:srgbClr val="46AAFF"/>
                </a:solidFill>
                <a:latin typeface="Aptos"/>
              </a:rPr>
              <a:t>06 / DEĞERLENDİRME</a:t>
            </a:r>
          </a:p>
        </p:txBody>
      </p:sp>
      <p:sp>
        <p:nvSpPr>
          <p:cNvPr id="102" name="Title"/>
          <p:cNvSpPr txBox="1"/>
          <p:nvPr/>
        </p:nvSpPr>
        <p:spPr>
          <a:xfrm>
            <a:off x="594360" y="658368"/>
            <a:ext cx="10515600" cy="640080"/>
          </a:xfrm>
          <a:prstGeom prst="rect">
            <a:avLst/>
          </a:prstGeom>
          <a:noFill/>
        </p:spPr>
        <p:txBody>
          <a:bodyPr wrap="square" anchor="t">
            <a:noAutofit/>
          </a:bodyPr>
          <a:lstStyle/>
          <a:p>
            <a:pPr algn="l"/>
            <a:r>
              <a:rPr sz="2800" b="1" i="0" dirty="0">
                <a:solidFill>
                  <a:srgbClr val="F5F8FC"/>
                </a:solidFill>
                <a:latin typeface="Aptos"/>
              </a:rPr>
              <a:t>Confusion Matrix &amp; Hata Analizi</a:t>
            </a:r>
          </a:p>
        </p:txBody>
      </p:sp>
      <p:sp>
        <p:nvSpPr>
          <p:cNvPr id="103" name="PageNum"/>
          <p:cNvSpPr txBox="1"/>
          <p:nvPr/>
        </p:nvSpPr>
        <p:spPr>
          <a:xfrm>
            <a:off x="11064240" y="411480"/>
            <a:ext cx="502920" cy="411480"/>
          </a:xfrm>
          <a:prstGeom prst="rect">
            <a:avLst/>
          </a:prstGeom>
          <a:noFill/>
        </p:spPr>
        <p:txBody>
          <a:bodyPr wrap="square" anchor="t">
            <a:noAutofit/>
          </a:bodyPr>
          <a:lstStyle/>
          <a:p>
            <a:pPr algn="r"/>
            <a:r>
              <a:rPr sz="1200" b="1" i="0" dirty="0">
                <a:solidFill>
                  <a:srgbClr val="A5B5C9"/>
                </a:solidFill>
                <a:latin typeface="Aptos"/>
              </a:rPr>
              <a:t>8</a:t>
            </a:r>
          </a:p>
        </p:txBody>
      </p:sp>
      <p:sp>
        <p:nvSpPr>
          <p:cNvPr id="104" name="Divider"/>
          <p:cNvSpPr/>
          <p:nvPr/>
        </p:nvSpPr>
        <p:spPr>
          <a:xfrm>
            <a:off x="594360" y="1353312"/>
            <a:ext cx="10972800" cy="13716"/>
          </a:xfrm>
          <a:prstGeom prst="rect">
            <a:avLst/>
          </a:prstGeom>
          <a:solidFill>
            <a:srgbClr val="46AAFF"/>
          </a:solidFill>
          <a:ln>
            <a:solidFill>
              <a:srgbClr val="46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CardLeft"/>
          <p:cNvSpPr/>
          <p:nvPr/>
        </p:nvSpPr>
        <p:spPr>
          <a:xfrm>
            <a:off x="685800" y="1737360"/>
            <a:ext cx="5303520" cy="4069080"/>
          </a:xfrm>
          <a:prstGeom prst="roundRect">
            <a:avLst/>
          </a:prstGeom>
          <a:solidFill>
            <a:srgbClr val="122239"/>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itleLeft"/>
          <p:cNvSpPr txBox="1"/>
          <p:nvPr/>
        </p:nvSpPr>
        <p:spPr>
          <a:xfrm>
            <a:off x="941832" y="1965960"/>
            <a:ext cx="4791456" cy="400000"/>
          </a:xfrm>
          <a:prstGeom prst="rect">
            <a:avLst/>
          </a:prstGeom>
          <a:noFill/>
        </p:spPr>
        <p:txBody>
          <a:bodyPr wrap="square" anchor="t">
            <a:noAutofit/>
          </a:bodyPr>
          <a:lstStyle/>
          <a:p>
            <a:pPr algn="l"/>
            <a:r>
              <a:rPr sz="1500" b="1" i="0" dirty="0">
                <a:solidFill>
                  <a:srgbClr val="46AAFF"/>
                </a:solidFill>
                <a:latin typeface="Aptos"/>
              </a:rPr>
              <a:t>1. False Negative </a:t>
            </a:r>
          </a:p>
        </p:txBody>
      </p:sp>
      <p:sp>
        <p:nvSpPr>
          <p:cNvPr id="107" name="BodyLeft"/>
          <p:cNvSpPr txBox="1"/>
          <p:nvPr/>
        </p:nvSpPr>
        <p:spPr>
          <a:xfrm>
            <a:off x="941832" y="2514264"/>
            <a:ext cx="4791456" cy="3000000"/>
          </a:xfrm>
          <a:prstGeom prst="rect">
            <a:avLst/>
          </a:prstGeom>
          <a:noFill/>
        </p:spPr>
        <p:txBody>
          <a:bodyPr wrap="square" anchor="t">
            <a:noAutofit/>
          </a:bodyPr>
          <a:lstStyle/>
          <a:p>
            <a:pPr algn="l">
              <a:spcAft>
                <a:spcPts val="1600"/>
              </a:spcAft>
            </a:pPr>
            <a:r>
              <a:rPr sz="1100" b="1" i="0" dirty="0">
                <a:solidFill>
                  <a:schemeClr val="bg1"/>
                </a:solidFill>
                <a:latin typeface="Aptos"/>
              </a:rPr>
              <a:t>Kimi Yanlış Tahmin Ediyor? </a:t>
            </a:r>
            <a:r>
              <a:rPr sz="1100" b="0" i="0" dirty="0">
                <a:solidFill>
                  <a:schemeClr val="bg1"/>
                </a:solidFill>
                <a:latin typeface="Aptos"/>
              </a:rPr>
              <a:t>Modelin </a:t>
            </a:r>
            <a:r>
              <a:rPr sz="1100" b="0" i="1" dirty="0">
                <a:solidFill>
                  <a:schemeClr val="bg1"/>
                </a:solidFill>
                <a:latin typeface="Aptos"/>
              </a:rPr>
              <a:t>“Ölecek (0)”</a:t>
            </a:r>
            <a:r>
              <a:rPr sz="1100" b="0" i="0" dirty="0">
                <a:solidFill>
                  <a:schemeClr val="bg1"/>
                </a:solidFill>
                <a:latin typeface="Aptos"/>
              </a:rPr>
              <a:t> gözüyle baktığı, </a:t>
            </a:r>
            <a:r>
              <a:rPr sz="1100" b="0" i="0" dirty="0" err="1">
                <a:solidFill>
                  <a:schemeClr val="bg1"/>
                </a:solidFill>
                <a:latin typeface="Aptos"/>
              </a:rPr>
              <a:t>ancak</a:t>
            </a:r>
            <a:r>
              <a:rPr sz="1100" b="0" i="0" dirty="0">
                <a:solidFill>
                  <a:schemeClr val="bg1"/>
                </a:solidFill>
                <a:latin typeface="Aptos"/>
              </a:rPr>
              <a:t> </a:t>
            </a:r>
            <a:r>
              <a:rPr sz="1100" b="1" i="0" dirty="0" err="1" smtClean="0">
                <a:solidFill>
                  <a:schemeClr val="bg1"/>
                </a:solidFill>
                <a:latin typeface="Aptos"/>
              </a:rPr>
              <a:t>hayatta</a:t>
            </a:r>
            <a:r>
              <a:rPr sz="1100" b="1" i="0" dirty="0" smtClean="0">
                <a:solidFill>
                  <a:schemeClr val="bg1"/>
                </a:solidFill>
                <a:latin typeface="Aptos"/>
              </a:rPr>
              <a:t> </a:t>
            </a:r>
            <a:r>
              <a:rPr sz="1100" b="1" i="0" dirty="0">
                <a:solidFill>
                  <a:schemeClr val="bg1"/>
                </a:solidFill>
                <a:latin typeface="Aptos"/>
              </a:rPr>
              <a:t>kalmayı başaran</a:t>
            </a:r>
            <a:r>
              <a:rPr sz="1100" b="0" i="0" dirty="0">
                <a:solidFill>
                  <a:schemeClr val="bg1"/>
                </a:solidFill>
                <a:latin typeface="Aptos"/>
              </a:rPr>
              <a:t> yolculardır.</a:t>
            </a:r>
          </a:p>
          <a:p>
            <a:pPr algn="l">
              <a:spcAft>
                <a:spcPts val="1600"/>
              </a:spcAft>
            </a:pPr>
            <a:r>
              <a:rPr sz="1000" b="1" i="0" dirty="0">
                <a:solidFill>
                  <a:schemeClr val="bg1"/>
                </a:solidFill>
                <a:latin typeface="Aptos"/>
              </a:rPr>
              <a:t>Neden Zorlanıyor? </a:t>
            </a:r>
            <a:r>
              <a:rPr sz="1000" b="0" i="0" dirty="0">
                <a:solidFill>
                  <a:schemeClr val="bg1"/>
                </a:solidFill>
                <a:latin typeface="Aptos"/>
              </a:rPr>
              <a:t>Bu kişilerin bilet sınıfı veya yaş gibi özellikleri ölen yolcularla benzerlik gösterdiği için model bu istisnaları yakalamakta zorlanmıştır.</a:t>
            </a:r>
          </a:p>
        </p:txBody>
      </p:sp>
      <p:sp>
        <p:nvSpPr>
          <p:cNvPr id="108" name="CardRight"/>
          <p:cNvSpPr/>
          <p:nvPr/>
        </p:nvSpPr>
        <p:spPr>
          <a:xfrm>
            <a:off x="6217920" y="1737360"/>
            <a:ext cx="5303520" cy="4069080"/>
          </a:xfrm>
          <a:prstGeom prst="roundRect">
            <a:avLst/>
          </a:prstGeom>
          <a:solidFill>
            <a:srgbClr val="122239"/>
          </a:solidFill>
          <a:ln>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itleRight"/>
          <p:cNvSpPr txBox="1"/>
          <p:nvPr/>
        </p:nvSpPr>
        <p:spPr>
          <a:xfrm>
            <a:off x="6473952" y="1965960"/>
            <a:ext cx="4791456" cy="400000"/>
          </a:xfrm>
          <a:prstGeom prst="rect">
            <a:avLst/>
          </a:prstGeom>
          <a:noFill/>
        </p:spPr>
        <p:txBody>
          <a:bodyPr wrap="square" anchor="t">
            <a:noAutofit/>
          </a:bodyPr>
          <a:lstStyle/>
          <a:p>
            <a:pPr algn="l"/>
            <a:r>
              <a:rPr sz="1500" b="1" i="0" dirty="0">
                <a:solidFill>
                  <a:srgbClr val="46AAFF"/>
                </a:solidFill>
                <a:latin typeface="Aptos"/>
              </a:rPr>
              <a:t>2. False </a:t>
            </a:r>
            <a:r>
              <a:rPr sz="1500" b="1" i="0" dirty="0" smtClean="0">
                <a:solidFill>
                  <a:srgbClr val="46AAFF"/>
                </a:solidFill>
                <a:latin typeface="Aptos"/>
              </a:rPr>
              <a:t>Positive</a:t>
            </a:r>
            <a:endParaRPr sz="1500" b="1" i="0" dirty="0">
              <a:solidFill>
                <a:srgbClr val="46AAFF"/>
              </a:solidFill>
              <a:latin typeface="Aptos"/>
            </a:endParaRPr>
          </a:p>
        </p:txBody>
      </p:sp>
      <p:sp>
        <p:nvSpPr>
          <p:cNvPr id="110" name="BodyRight"/>
          <p:cNvSpPr txBox="1"/>
          <p:nvPr/>
        </p:nvSpPr>
        <p:spPr>
          <a:xfrm>
            <a:off x="6473952" y="2514264"/>
            <a:ext cx="4791456" cy="3000000"/>
          </a:xfrm>
          <a:prstGeom prst="rect">
            <a:avLst/>
          </a:prstGeom>
          <a:noFill/>
        </p:spPr>
        <p:txBody>
          <a:bodyPr wrap="square" anchor="t">
            <a:noAutofit/>
          </a:bodyPr>
          <a:lstStyle/>
          <a:p>
            <a:pPr algn="l">
              <a:spcAft>
                <a:spcPts val="1600"/>
              </a:spcAft>
            </a:pPr>
            <a:r>
              <a:rPr sz="1100" b="1" i="0" dirty="0">
                <a:solidFill>
                  <a:schemeClr val="bg1"/>
                </a:solidFill>
                <a:latin typeface="Aptos"/>
              </a:rPr>
              <a:t>Kimi Yanlış Tahmin Ediyor? </a:t>
            </a:r>
            <a:r>
              <a:rPr sz="1100" b="0" i="0" dirty="0">
                <a:solidFill>
                  <a:schemeClr val="bg1"/>
                </a:solidFill>
                <a:latin typeface="Aptos"/>
              </a:rPr>
              <a:t>Modelin </a:t>
            </a:r>
            <a:r>
              <a:rPr sz="1100" b="0" i="1" dirty="0">
                <a:solidFill>
                  <a:schemeClr val="bg1"/>
                </a:solidFill>
                <a:latin typeface="Aptos"/>
              </a:rPr>
              <a:t>“Kesin Kurtulacak (1)”</a:t>
            </a:r>
            <a:r>
              <a:rPr sz="1100" b="0" i="0" dirty="0">
                <a:solidFill>
                  <a:schemeClr val="bg1"/>
                </a:solidFill>
                <a:latin typeface="Aptos"/>
              </a:rPr>
              <a:t> dediği, </a:t>
            </a:r>
            <a:r>
              <a:rPr sz="1100" b="0" i="0" dirty="0" err="1">
                <a:solidFill>
                  <a:schemeClr val="bg1"/>
                </a:solidFill>
                <a:latin typeface="Aptos"/>
              </a:rPr>
              <a:t>ancak</a:t>
            </a:r>
            <a:r>
              <a:rPr sz="1100" b="0" i="0" dirty="0">
                <a:solidFill>
                  <a:schemeClr val="bg1"/>
                </a:solidFill>
                <a:latin typeface="Aptos"/>
              </a:rPr>
              <a:t> </a:t>
            </a:r>
            <a:r>
              <a:rPr sz="1100" b="1" i="0" dirty="0" err="1" smtClean="0">
                <a:solidFill>
                  <a:schemeClr val="bg1"/>
                </a:solidFill>
                <a:latin typeface="Aptos"/>
              </a:rPr>
              <a:t>vefat</a:t>
            </a:r>
            <a:r>
              <a:rPr sz="1100" b="1" i="0" dirty="0" smtClean="0">
                <a:solidFill>
                  <a:schemeClr val="bg1"/>
                </a:solidFill>
                <a:latin typeface="Aptos"/>
              </a:rPr>
              <a:t> </a:t>
            </a:r>
            <a:r>
              <a:rPr sz="1100" b="1" i="0" dirty="0">
                <a:solidFill>
                  <a:schemeClr val="bg1"/>
                </a:solidFill>
                <a:latin typeface="Aptos"/>
              </a:rPr>
              <a:t>eden</a:t>
            </a:r>
            <a:r>
              <a:rPr sz="1100" b="0" i="0" dirty="0">
                <a:solidFill>
                  <a:schemeClr val="bg1"/>
                </a:solidFill>
                <a:latin typeface="Aptos"/>
              </a:rPr>
              <a:t> </a:t>
            </a:r>
            <a:r>
              <a:rPr sz="1100" b="0" i="0" dirty="0" err="1">
                <a:solidFill>
                  <a:schemeClr val="bg1"/>
                </a:solidFill>
                <a:latin typeface="Aptos"/>
              </a:rPr>
              <a:t>yolculardır</a:t>
            </a:r>
            <a:r>
              <a:rPr sz="1100" b="0" i="0" dirty="0" smtClean="0">
                <a:solidFill>
                  <a:srgbClr val="A5B5C9"/>
                </a:solidFill>
                <a:latin typeface="Aptos"/>
              </a:rPr>
              <a:t>.</a:t>
            </a:r>
            <a:endParaRPr lang="tr-TR" sz="1100" b="0" i="0" dirty="0" smtClean="0">
              <a:solidFill>
                <a:srgbClr val="A5B5C9"/>
              </a:solidFill>
              <a:latin typeface="Aptos"/>
            </a:endParaRPr>
          </a:p>
          <a:p>
            <a:pPr>
              <a:spcAft>
                <a:spcPts val="1600"/>
              </a:spcAft>
            </a:pPr>
            <a:r>
              <a:rPr lang="tr-TR" sz="1100" b="1" dirty="0">
                <a:solidFill>
                  <a:schemeClr val="bg1"/>
                </a:solidFill>
              </a:rPr>
              <a:t>Neden Zorlanıyor?</a:t>
            </a:r>
            <a:r>
              <a:rPr lang="tr-TR" sz="1100" dirty="0">
                <a:solidFill>
                  <a:schemeClr val="bg1"/>
                </a:solidFill>
              </a:rPr>
              <a:t> Model bu kişileri demografik özelliklerine dayanarak kurtulacak olarak sınıflandırmış olsa da, kazanın genel karmaşası ve ani gelişen faktörler nedeniyle model bu sapmaları yakalayamamıştır.</a:t>
            </a:r>
            <a:endParaRPr sz="1100" b="0" i="0" dirty="0">
              <a:solidFill>
                <a:schemeClr val="bg1"/>
              </a:solidFill>
              <a:latin typeface="Aptos"/>
            </a:endParaRPr>
          </a:p>
        </p:txBody>
      </p:sp>
      <p:sp>
        <p:nvSpPr>
          <p:cNvPr id="111" name="Footer"/>
          <p:cNvSpPr txBox="1"/>
          <p:nvPr/>
        </p:nvSpPr>
        <p:spPr>
          <a:xfrm>
            <a:off x="594360" y="6473952"/>
            <a:ext cx="6400800" cy="182880"/>
          </a:xfrm>
          <a:prstGeom prst="rect">
            <a:avLst/>
          </a:prstGeom>
          <a:noFill/>
        </p:spPr>
        <p:txBody>
          <a:bodyPr wrap="square" anchor="t">
            <a:noAutofit/>
          </a:bodyPr>
          <a:lstStyle/>
          <a:p>
            <a:pPr algn="l"/>
            <a:r>
              <a:rPr sz="800" b="0" i="0" dirty="0">
                <a:solidFill>
                  <a:srgbClr val="A5B5C9"/>
                </a:solidFill>
                <a:latin typeface="Aptos"/>
              </a:rPr>
              <a:t>Titanik Veri Analizi Projesi</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91426"/>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5303520" cy="274320"/>
          </a:xfrm>
          <a:prstGeom prst="rect">
            <a:avLst/>
          </a:prstGeom>
          <a:noFill/>
        </p:spPr>
        <p:txBody>
          <a:bodyPr wrap="square" anchor="ctr">
            <a:spAutoFit/>
          </a:bodyPr>
          <a:lstStyle/>
          <a:p>
            <a:pPr algn="l"/>
            <a:r>
              <a:rPr sz="1000" b="1">
                <a:solidFill>
                  <a:srgbClr val="46AAFF"/>
                </a:solidFill>
                <a:latin typeface="Aptos"/>
              </a:rPr>
              <a:t>06 / DEĞERLENDİRME</a:t>
            </a:r>
          </a:p>
        </p:txBody>
      </p:sp>
      <p:sp>
        <p:nvSpPr>
          <p:cNvPr id="3" name="TextBox 2"/>
          <p:cNvSpPr txBox="1"/>
          <p:nvPr/>
        </p:nvSpPr>
        <p:spPr>
          <a:xfrm>
            <a:off x="594360" y="658368"/>
            <a:ext cx="10515600" cy="594360"/>
          </a:xfrm>
          <a:prstGeom prst="rect">
            <a:avLst/>
          </a:prstGeom>
          <a:noFill/>
        </p:spPr>
        <p:txBody>
          <a:bodyPr wrap="square" anchor="ctr">
            <a:spAutoFit/>
          </a:bodyPr>
          <a:lstStyle/>
          <a:p>
            <a:pPr algn="l"/>
            <a:r>
              <a:rPr sz="2800" b="1">
                <a:solidFill>
                  <a:srgbClr val="F5F8FC"/>
                </a:solidFill>
                <a:latin typeface="Aptos"/>
              </a:rPr>
              <a:t>Feature Importance (Özellik Önem Düzeyleri)</a:t>
            </a:r>
          </a:p>
        </p:txBody>
      </p:sp>
      <p:sp>
        <p:nvSpPr>
          <p:cNvPr id="4" name="TextBox 3"/>
          <p:cNvSpPr txBox="1"/>
          <p:nvPr/>
        </p:nvSpPr>
        <p:spPr>
          <a:xfrm>
            <a:off x="11018520" y="411480"/>
            <a:ext cx="502920" cy="411480"/>
          </a:xfrm>
          <a:prstGeom prst="rect">
            <a:avLst/>
          </a:prstGeom>
          <a:noFill/>
        </p:spPr>
        <p:txBody>
          <a:bodyPr wrap="square" anchor="ctr">
            <a:spAutoFit/>
          </a:bodyPr>
          <a:lstStyle/>
          <a:p>
            <a:pPr algn="r"/>
            <a:r>
              <a:rPr sz="1200" b="1">
                <a:solidFill>
                  <a:srgbClr val="A5B5C9"/>
                </a:solidFill>
                <a:latin typeface="Aptos"/>
              </a:rPr>
              <a:t>9</a:t>
            </a:r>
          </a:p>
        </p:txBody>
      </p:sp>
      <p:sp>
        <p:nvSpPr>
          <p:cNvPr id="5" name="Rectangle 4"/>
          <p:cNvSpPr/>
          <p:nvPr/>
        </p:nvSpPr>
        <p:spPr>
          <a:xfrm>
            <a:off x="594360" y="1353312"/>
            <a:ext cx="10972800" cy="13716"/>
          </a:xfrm>
          <a:prstGeom prst="rect">
            <a:avLst/>
          </a:prstGeom>
          <a:solidFill>
            <a:srgbClr val="46A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1737360"/>
            <a:ext cx="5303520" cy="3246120"/>
          </a:xfrm>
          <a:prstGeom prst="roundRect">
            <a:avLst/>
          </a:prstGeom>
          <a:solidFill>
            <a:srgbClr val="122239"/>
          </a:solidFill>
          <a:ln w="10160">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17920" y="1737360"/>
            <a:ext cx="5303520" cy="3246120"/>
          </a:xfrm>
          <a:prstGeom prst="roundRect">
            <a:avLst/>
          </a:prstGeom>
          <a:solidFill>
            <a:srgbClr val="122239"/>
          </a:solidFill>
          <a:ln w="10160">
            <a:solidFill>
              <a:srgbClr val="18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35240" y="1691640"/>
            <a:ext cx="3794760" cy="411480"/>
          </a:xfrm>
          <a:prstGeom prst="rect">
            <a:avLst/>
          </a:prstGeom>
          <a:noFill/>
        </p:spPr>
        <p:txBody>
          <a:bodyPr wrap="square" anchor="ctr">
            <a:spAutoFit/>
          </a:bodyPr>
          <a:lstStyle/>
          <a:p>
            <a:pPr algn="l"/>
            <a:r>
              <a:rPr sz="1500" b="1">
                <a:solidFill>
                  <a:srgbClr val="46AAFF"/>
                </a:solidFill>
                <a:latin typeface="Aptos"/>
              </a:rPr>
              <a:t>1. Cinsiyet (Sex – %24.2)</a:t>
            </a:r>
          </a:p>
        </p:txBody>
      </p:sp>
      <p:sp>
        <p:nvSpPr>
          <p:cNvPr id="9" name="TextBox 8"/>
          <p:cNvSpPr txBox="1"/>
          <p:nvPr/>
        </p:nvSpPr>
        <p:spPr>
          <a:xfrm>
            <a:off x="7635240" y="3611880"/>
            <a:ext cx="3794760" cy="658368"/>
          </a:xfrm>
          <a:prstGeom prst="rect">
            <a:avLst/>
          </a:prstGeom>
          <a:noFill/>
        </p:spPr>
        <p:txBody>
          <a:bodyPr wrap="square" anchor="ctr">
            <a:spAutoFit/>
          </a:bodyPr>
          <a:lstStyle/>
          <a:p>
            <a:pPr algn="l"/>
            <a:r>
              <a:rPr sz="1500" b="1">
                <a:solidFill>
                  <a:srgbClr val="6FE2B1"/>
                </a:solidFill>
                <a:latin typeface="Aptos"/>
              </a:rPr>
              <a:t>2. Bilet Ücreti &amp; Yaş (Fare – %22 &amp; Age – %17.8)</a:t>
            </a:r>
          </a:p>
        </p:txBody>
      </p:sp>
      <p:sp>
        <p:nvSpPr>
          <p:cNvPr id="10" name="TextBox 9"/>
          <p:cNvSpPr txBox="1"/>
          <p:nvPr/>
        </p:nvSpPr>
        <p:spPr>
          <a:xfrm>
            <a:off x="7635240" y="2212848"/>
            <a:ext cx="3794760" cy="1234440"/>
          </a:xfrm>
          <a:prstGeom prst="rect">
            <a:avLst/>
          </a:prstGeom>
          <a:noFill/>
        </p:spPr>
        <p:txBody>
          <a:bodyPr wrap="square" anchor="ctr">
            <a:spAutoFit/>
          </a:bodyPr>
          <a:lstStyle/>
          <a:p>
            <a:pPr algn="l"/>
            <a:r>
              <a:rPr sz="1100" b="0">
                <a:solidFill>
                  <a:srgbClr val="A5B5C9"/>
                </a:solidFill>
                <a:latin typeface="Aptos"/>
              </a:rPr>
              <a:t>Zirvede yer alır. “Önce kadınlar ve çocuklar” kuralının modelin kararlarını
belirleyen en baskın faktör olduğunu matematiksel olarak kanıtlar.</a:t>
            </a:r>
          </a:p>
        </p:txBody>
      </p:sp>
      <p:sp>
        <p:nvSpPr>
          <p:cNvPr id="11" name="TextBox 10"/>
          <p:cNvSpPr txBox="1"/>
          <p:nvPr/>
        </p:nvSpPr>
        <p:spPr>
          <a:xfrm>
            <a:off x="7635240" y="4160520"/>
            <a:ext cx="3794760" cy="960120"/>
          </a:xfrm>
          <a:prstGeom prst="rect">
            <a:avLst/>
          </a:prstGeom>
          <a:noFill/>
        </p:spPr>
        <p:txBody>
          <a:bodyPr wrap="square" anchor="ctr">
            <a:spAutoFit/>
          </a:bodyPr>
          <a:lstStyle/>
          <a:p>
            <a:pPr algn="l"/>
            <a:r>
              <a:rPr sz="1100" b="0">
                <a:solidFill>
                  <a:srgbClr val="A5B5C9"/>
                </a:solidFill>
                <a:latin typeface="Aptos"/>
              </a:rPr>
              <a:t>Zengin yolcuların (1. sınıf kamaraların) kurtulma şansının ve çocuk/yaş
değişkeninin model kararlarındaki kritik ağırlığını gösterir.</a:t>
            </a:r>
          </a:p>
        </p:txBody>
      </p:sp>
      <p:sp>
        <p:nvSpPr>
          <p:cNvPr id="12" name="Oval 11"/>
          <p:cNvSpPr/>
          <p:nvPr/>
        </p:nvSpPr>
        <p:spPr>
          <a:xfrm>
            <a:off x="960120" y="5468112"/>
            <a:ext cx="109728" cy="109728"/>
          </a:xfrm>
          <a:prstGeom prst="ellipse">
            <a:avLst/>
          </a:prstGeom>
          <a:solidFill>
            <a:srgbClr val="FFB5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5504688"/>
            <a:ext cx="9784080" cy="411480"/>
          </a:xfrm>
          <a:prstGeom prst="rect">
            <a:avLst/>
          </a:prstGeom>
          <a:noFill/>
        </p:spPr>
        <p:txBody>
          <a:bodyPr wrap="square" anchor="ctr">
            <a:spAutoFit/>
          </a:bodyPr>
          <a:lstStyle/>
          <a:p>
            <a:pPr algn="ctr"/>
            <a:r>
              <a:rPr sz="1000" b="1">
                <a:solidFill>
                  <a:srgbClr val="FFB547"/>
                </a:solidFill>
                <a:latin typeface="Aptos"/>
              </a:rPr>
              <a:t>Hipotez Doğrulaması:</a:t>
            </a:r>
            <a:r>
              <a:rPr sz="1000">
                <a:solidFill>
                  <a:srgbClr val="A5B5C9"/>
                </a:solidFill>
                <a:latin typeface="Aptos"/>
              </a:rPr>
              <a:t> Proje başında kurduğumuz varsayımlar yapay zeka tarafından birebir onaylanmıştır.</a:t>
            </a:r>
          </a:p>
        </p:txBody>
      </p:sp>
      <p:sp>
        <p:nvSpPr>
          <p:cNvPr id="14" name="TextBox 13"/>
          <p:cNvSpPr txBox="1"/>
          <p:nvPr/>
        </p:nvSpPr>
        <p:spPr>
          <a:xfrm>
            <a:off x="594360" y="6473952"/>
            <a:ext cx="6400800" cy="182880"/>
          </a:xfrm>
          <a:prstGeom prst="rect">
            <a:avLst/>
          </a:prstGeom>
          <a:noFill/>
        </p:spPr>
        <p:txBody>
          <a:bodyPr wrap="square" anchor="ctr">
            <a:spAutoFit/>
          </a:bodyPr>
          <a:lstStyle/>
          <a:p>
            <a:pPr algn="l"/>
            <a:r>
              <a:rPr sz="800" b="0">
                <a:solidFill>
                  <a:srgbClr val="A5B5C9"/>
                </a:solidFill>
                <a:latin typeface="Aptos"/>
              </a:rPr>
              <a:t>Titanik Veri Analizi Projesi</a:t>
            </a:r>
          </a:p>
        </p:txBody>
      </p:sp>
      <p:pic>
        <p:nvPicPr>
          <p:cNvPr id="15" name="Picture 14" descr="b329b482-4f46-4448-811a-ecb2f4e21734.png"/>
          <p:cNvPicPr>
            <a:picLocks noChangeAspect="1"/>
          </p:cNvPicPr>
          <p:nvPr/>
        </p:nvPicPr>
        <p:blipFill>
          <a:blip r:embed="rId2"/>
          <a:stretch>
            <a:fillRect/>
          </a:stretch>
        </p:blipFill>
        <p:spPr>
          <a:xfrm>
            <a:off x="658368" y="1417320"/>
            <a:ext cx="6720840" cy="3785615"/>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91426"/>
        </a:solidFill>
        <a:effectLst/>
      </p:bgPr>
    </p:bg>
    <p:spTree>
      <p:nvGrpSpPr>
        <p:cNvPr id="1" name=""/>
        <p:cNvGrpSpPr/>
        <p:nvPr/>
      </p:nvGrpSpPr>
      <p:grpSpPr>
        <a:xfrm>
          <a:off x="0" y="0"/>
          <a:ext cx="0" cy="0"/>
          <a:chOff x="0" y="0"/>
          <a:chExt cx="0" cy="0"/>
        </a:xfrm>
      </p:grpSpPr>
      <p:sp>
        <p:nvSpPr>
          <p:cNvPr id="3" name="TextBox 2"/>
          <p:cNvSpPr txBox="1"/>
          <p:nvPr/>
        </p:nvSpPr>
        <p:spPr>
          <a:xfrm>
            <a:off x="872412" y="2239050"/>
            <a:ext cx="6949440" cy="569387"/>
          </a:xfrm>
          <a:prstGeom prst="rect">
            <a:avLst/>
          </a:prstGeom>
          <a:noFill/>
        </p:spPr>
        <p:txBody>
          <a:bodyPr wrap="square" anchor="t">
            <a:spAutoFit/>
          </a:bodyPr>
          <a:lstStyle/>
          <a:p>
            <a:pPr algn="l"/>
            <a:r>
              <a:rPr lang="tr-TR" sz="3100" b="1" dirty="0" smtClean="0">
                <a:solidFill>
                  <a:srgbClr val="F5F8FC"/>
                </a:solidFill>
                <a:latin typeface="Aptos"/>
              </a:rPr>
              <a:t>TEŞEKKÜRLER</a:t>
            </a:r>
            <a:endParaRPr sz="3100" b="1" dirty="0">
              <a:solidFill>
                <a:srgbClr val="F5F8FC"/>
              </a:solidFill>
              <a:latin typeface="Aptos"/>
            </a:endParaRPr>
          </a:p>
        </p:txBody>
      </p:sp>
      <p:sp>
        <p:nvSpPr>
          <p:cNvPr id="4" name="Rectangle 3"/>
          <p:cNvSpPr/>
          <p:nvPr/>
        </p:nvSpPr>
        <p:spPr>
          <a:xfrm>
            <a:off x="713232" y="3337560"/>
            <a:ext cx="4023360" cy="54864"/>
          </a:xfrm>
          <a:prstGeom prst="rect">
            <a:avLst/>
          </a:prstGeom>
          <a:solidFill>
            <a:srgbClr val="46AAFF"/>
          </a:solidFill>
          <a:ln>
            <a:solidFill>
              <a:srgbClr val="46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326880" y="1828800"/>
            <a:ext cx="201168" cy="201168"/>
          </a:xfrm>
          <a:prstGeom prst="ellipse">
            <a:avLst/>
          </a:prstGeom>
          <a:solidFill>
            <a:srgbClr val="46AAFF"/>
          </a:solidFill>
          <a:ln>
            <a:solidFill>
              <a:srgbClr val="46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829800" y="2423160"/>
            <a:ext cx="201168" cy="201168"/>
          </a:xfrm>
          <a:prstGeom prst="ellipse">
            <a:avLst/>
          </a:prstGeom>
          <a:solidFill>
            <a:srgbClr val="6FE2B1"/>
          </a:solidFill>
          <a:ln>
            <a:solidFill>
              <a:srgbClr val="6FE2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332719" y="3017520"/>
            <a:ext cx="201168" cy="201168"/>
          </a:xfrm>
          <a:prstGeom prst="ellipse">
            <a:avLst/>
          </a:prstGeom>
          <a:solidFill>
            <a:srgbClr val="FFB547"/>
          </a:solidFill>
          <a:ln>
            <a:solidFill>
              <a:srgbClr val="FF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835640" y="3611880"/>
            <a:ext cx="201168" cy="201168"/>
          </a:xfrm>
          <a:prstGeom prst="ellipse">
            <a:avLst/>
          </a:prstGeom>
          <a:solidFill>
            <a:srgbClr val="46AAFF"/>
          </a:solidFill>
          <a:ln>
            <a:solidFill>
              <a:srgbClr val="46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6473952"/>
            <a:ext cx="6400800" cy="182880"/>
          </a:xfrm>
          <a:prstGeom prst="rect">
            <a:avLst/>
          </a:prstGeom>
          <a:noFill/>
        </p:spPr>
        <p:txBody>
          <a:bodyPr wrap="square" anchor="t">
            <a:spAutoFit/>
          </a:bodyPr>
          <a:lstStyle/>
          <a:p>
            <a:pPr algn="l"/>
            <a:r>
              <a:rPr sz="800" b="0">
                <a:solidFill>
                  <a:srgbClr val="A5B5C9"/>
                </a:solidFill>
                <a:latin typeface="Aptos"/>
              </a:rPr>
              <a:t>Titanik Veri Analizi Projesi</a:t>
            </a:r>
          </a:p>
        </p:txBody>
      </p:sp>
      <p:sp>
        <p:nvSpPr>
          <p:cNvPr id="11" name="Metin kutusu 10"/>
          <p:cNvSpPr txBox="1"/>
          <p:nvPr/>
        </p:nvSpPr>
        <p:spPr>
          <a:xfrm>
            <a:off x="9732575" y="6104620"/>
            <a:ext cx="2407298" cy="369332"/>
          </a:xfrm>
          <a:prstGeom prst="rect">
            <a:avLst/>
          </a:prstGeom>
          <a:noFill/>
        </p:spPr>
        <p:txBody>
          <a:bodyPr wrap="square" rtlCol="0">
            <a:spAutoFit/>
          </a:bodyPr>
          <a:lstStyle/>
          <a:p>
            <a:r>
              <a:rPr lang="tr-TR" dirty="0" smtClean="0">
                <a:solidFill>
                  <a:schemeClr val="bg1"/>
                </a:solidFill>
              </a:rPr>
              <a:t>Beyza ÇOLAKLAR</a:t>
            </a:r>
            <a:endParaRPr lang="tr-TR" dirty="0">
              <a:solidFill>
                <a:schemeClr val="bg1"/>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38</TotalTime>
  <Words>725</Words>
  <Application>Microsoft Office PowerPoint</Application>
  <PresentationFormat>Geniş ekran</PresentationFormat>
  <Paragraphs>154</Paragraphs>
  <Slides>10</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10</vt:i4>
      </vt:variant>
    </vt:vector>
  </HeadingPairs>
  <TitlesOfParts>
    <vt:vector size="14" baseType="lpstr">
      <vt:lpstr>Aptos</vt:lpstr>
      <vt:lpstr>Arial</vt:lpstr>
      <vt:lpstr>Calibri</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subject/>
  <dc:creator/>
  <cp:keywords/>
  <dc:description>generated using python-pptx</dc:description>
  <cp:lastModifiedBy>user</cp:lastModifiedBy>
  <cp:revision>6</cp:revision>
  <dcterms:created xsi:type="dcterms:W3CDTF">2013-01-27T09:14:16Z</dcterms:created>
  <dcterms:modified xsi:type="dcterms:W3CDTF">2026-09-10T21:02:29Z</dcterms:modified>
  <cp:category/>
</cp:coreProperties>
</file>